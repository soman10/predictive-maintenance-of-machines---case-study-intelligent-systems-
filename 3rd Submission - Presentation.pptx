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18" r:id="rId3"/>
    <p:sldId id="294" r:id="rId4"/>
    <p:sldId id="309" r:id="rId5"/>
    <p:sldId id="319" r:id="rId6"/>
    <p:sldId id="322" r:id="rId7"/>
    <p:sldId id="306" r:id="rId8"/>
    <p:sldId id="312" r:id="rId9"/>
    <p:sldId id="320" r:id="rId10"/>
    <p:sldId id="303" r:id="rId11"/>
    <p:sldId id="304" r:id="rId12"/>
    <p:sldId id="323" r:id="rId13"/>
    <p:sldId id="321" r:id="rId14"/>
    <p:sldId id="324" r:id="rId15"/>
    <p:sldId id="316" r:id="rId16"/>
    <p:sldId id="317" r:id="rId17"/>
    <p:sldId id="314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27003-8F25-1B8E-8D5B-3EC604EC861A}" v="1" dt="2025-12-01T13:50:51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22E15-3370-419E-AB23-4A29B0882EB8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9619-4B08-432A-9126-E69094AEECA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86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8EDC8022-D114-B3DB-C98C-48D579B48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50830"/>
            <a:ext cx="9144000" cy="720000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CBE88C-22D6-A1D0-8993-B1F841DD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A7C20B81-EF76-43B2-97F9-22082C06D793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ACAD9C-B577-D6AA-DD2C-9C1749F4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0B508F-3501-BE0E-28DA-D007DE0C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C884321-03BC-4B89-A235-71C364322ED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1E8828-73B7-BF60-B17A-6479E0F92A55}"/>
              </a:ext>
            </a:extLst>
          </p:cNvPr>
          <p:cNvSpPr/>
          <p:nvPr userDrawn="1"/>
        </p:nvSpPr>
        <p:spPr>
          <a:xfrm>
            <a:off x="224286" y="198408"/>
            <a:ext cx="11743427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71BC03-B0AE-4F1C-305D-91201D64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86" y="198408"/>
            <a:ext cx="9317214" cy="720000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9614C45A-7F49-561C-EBF2-B410E5DFB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5EE95BB-8FD7-A84E-73B3-D4122EA5ED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1970088"/>
            <a:ext cx="9144000" cy="36369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A00AEB-41F4-DE18-0B1A-9EC9F34FA3EB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56598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D4B-DDCC-491B-A552-2A6CE08C8F66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9A94ABF-B8E0-4329-868D-0A330D129A0E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1B3666-A441-40AA-B829-41F09E983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5786815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102"/>
            <a:ext cx="10515600" cy="5204861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B895-7CE5-402F-80C0-0BF921356B10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6A4EAB6-9E74-2AF6-1ADD-72DA91E391AF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22743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D0D75-7F83-6A83-5F4D-9D8C254B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F208D5-404C-BAA4-C607-83B1F2CE7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F13E6-4CF9-D3C4-F639-DD86F5D7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04D-F0F5-4C62-9BD0-563E37F7A095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974481-765F-872C-9262-6B3FA646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2653E-258B-4B18-5707-0D51A970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60723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524C-83C6-40AC-94DA-4818C54607BC}" type="datetime1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465A69C-FC50-E245-AF67-015365C521E2}"/>
              </a:ext>
            </a:extLst>
          </p:cNvPr>
          <p:cNvSpPr txBox="1">
            <a:spLocks/>
          </p:cNvSpPr>
          <p:nvPr userDrawn="1"/>
        </p:nvSpPr>
        <p:spPr>
          <a:xfrm>
            <a:off x="224286" y="198408"/>
            <a:ext cx="9317214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endParaRPr lang="de-DE" sz="4000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4FA3B9-74E3-E990-348E-B43B542F4C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AEC2A9-6D61-B0BF-9024-8F7EE0782F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838" y="198408"/>
            <a:ext cx="9317037" cy="72000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5402236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2291-B762-4BCB-B685-6A37891D4545}" type="datetime1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615E2A3-98F5-A7BE-3659-BAFF5CE1C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4286" y="198408"/>
            <a:ext cx="9317213" cy="7199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98243012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03264-800C-C284-DCF7-2B4BB98C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F4FD0E-15FE-125C-7457-0D0730F3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4DE181-B758-162A-265D-715CD12F2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1FB11A-FFBA-7B13-0D26-D0FC91EF7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7504AF-2D05-74A6-631B-235B9F606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6BB4-4601-3DD2-EBE4-A01B0025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DC0F-FCCF-436D-B462-3925CE2E58BF}" type="datetime1">
              <a:rPr lang="de-DE" smtClean="0"/>
              <a:t>01.12.2025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4F213E-D4E6-40BB-609E-451DDECC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CCE5DC-0BB1-C7FA-3975-442FCB73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260430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4B49E-4519-F231-F7AF-00B3B669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2C062A-542B-B0B9-01FC-D97C6B1C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3D51-A1B3-4B7C-A0BC-37A8B59EF5D1}" type="datetime1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3604A5-7594-9203-72EF-331618A3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53CC75-54EA-FA23-7701-8EEC8EC3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59014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4E7DD1-6F81-33D8-8E15-2192730C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7A6-A2A4-40C8-9313-D1BCB096C242}" type="datetime1">
              <a:rPr lang="de-DE" smtClean="0"/>
              <a:t>01.12.2025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BA5A4C-ABD9-19C9-0F05-7179E472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E810F0-783A-25DE-A5FF-49DD584F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559258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75445-9197-DAAD-315B-1B8AD071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11B9AC-5AF0-2F34-E9AE-7E56EFF4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91D5CD-7683-EF45-C3D8-7A6ACAF68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4E4D3-F432-DB44-F6BC-0963A98C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5D9-1194-4828-8F1D-FF60AC61B7E5}" type="datetime1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1BA526-A2D3-3042-73DA-A65C471A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1D7639-E38B-720E-0989-499FEBB5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603315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2EAB2-EC53-7E48-BD92-EBFAD8CE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6E6FDF-13AF-0BBA-B710-A279D72A9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90A76B-7CCE-F15A-FABA-35501E5E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9207A-800C-A2E4-89A1-92A8FAE1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DA15-A852-4AFC-97CC-3DE8A5814030}" type="datetime1">
              <a:rPr lang="de-DE" smtClean="0"/>
              <a:t>01.12.2025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B6A96-0311-3F24-2ED8-EBF877EB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4CAA10-CD38-7D79-66EF-D57B73C5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83176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429CD0-5BAB-1CF1-5B8F-D59C74E6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525ADB-AF41-88A1-D744-6F3CD1F1B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0B143-CAD9-A0AD-CC66-447E2BA1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97B5-4881-4C7A-B029-3BACCA7562ED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E25EC4-4087-0266-207E-05D0796A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C44909-70F5-7653-023D-EFFD5B22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7399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B99344-F0C8-1CD9-C09D-7C7EE2088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80F48D-9D79-2AEB-8022-689B08BEC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A3ADBE-3EBA-3684-EC0A-67BE51AA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2520-3A19-4ABE-A8AE-6C049CB10B09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BC7CA-6919-65E4-971D-B8679AD5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0C3F8-752A-F100-001E-C9BA1DBC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060744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151F13-F7A3-616A-18F5-1ED8653B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F5D7C-8965-2181-EBC0-8F218DF4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8C5ACD-33F5-3D01-0423-F3C8A099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CFEF-12DF-4F90-BD60-A86EF247E2CD}" type="datetime1">
              <a:rPr lang="de-DE" smtClean="0"/>
              <a:t>01.12.2025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ABE83-A3E4-9841-8C03-533709055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6AD623-0150-DFD7-580B-ACB1CD8F9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27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B693B5EB-DDCC-2B7F-4FB4-1CF680E7D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7450" y="2097893"/>
            <a:ext cx="7277100" cy="3078971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r>
              <a:rPr lang="en-US" sz="1400"/>
              <a:t>Case Study: Intelligent Systems (WS25/26)</a:t>
            </a:r>
            <a:endParaRPr lang="de-DE" sz="1400"/>
          </a:p>
          <a:p>
            <a:pPr>
              <a:lnSpc>
                <a:spcPct val="100000"/>
              </a:lnSpc>
            </a:pPr>
            <a:r>
              <a:rPr lang="en-US" sz="3200"/>
              <a:t>Predictive Maintenance of Milling Machines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sz="1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400"/>
              <a:t>Lecturer: </a:t>
            </a:r>
            <a:r>
              <a:rPr lang="de-DE" sz="1400" b="0"/>
              <a:t>Hamidreza Heidari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de-DE" sz="1400"/>
              <a:t>Members: </a:t>
            </a:r>
            <a:r>
              <a:rPr lang="de-DE" sz="1400" b="0"/>
              <a:t>Irtaza Janjua, Soman Tariq, Sadeed Ahmad, Usama Ali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71D8C-08DE-DF37-94F4-24535D94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626" y="6408434"/>
            <a:ext cx="2743200" cy="365125"/>
          </a:xfrm>
        </p:spPr>
        <p:txBody>
          <a:bodyPr/>
          <a:lstStyle/>
          <a:p>
            <a:fld id="{F2919070-17E7-47A5-8399-76CC63D6E563}" type="datetime1">
              <a:rPr lang="de-DE" smtClean="0">
                <a:solidFill>
                  <a:schemeClr val="bg1"/>
                </a:solidFill>
              </a:rPr>
              <a:t>01.12.2025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4B4F50-F11C-22D2-8C0A-C9F59E55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9026" y="6408434"/>
            <a:ext cx="2743200" cy="365125"/>
          </a:xfrm>
        </p:spPr>
        <p:txBody>
          <a:bodyPr/>
          <a:lstStyle/>
          <a:p>
            <a:fld id="{3C884321-03BC-4B89-A235-71C364322ED5}" type="slidenum">
              <a:rPr lang="de-DE" smtClean="0">
                <a:solidFill>
                  <a:schemeClr val="bg1"/>
                </a:solidFill>
              </a:rPr>
              <a:pPr/>
              <a:t>1</a:t>
            </a:fld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92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E75E-9B29-95A7-DAA3-D9676FBA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2FA00E-5EDF-E3FB-1EB2-B815031C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F8F3AB-9D24-C630-7ED2-B062A640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3866982-F020-4B7A-C5BD-A2A7F901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/>
              <a:t>Project Timeline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825D17-33D7-50D1-282D-EF0133A30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889068" cy="5445672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pic>
        <p:nvPicPr>
          <p:cNvPr id="2" name="Picture 1" descr="A graph on a blue background&#10;&#10;AI-generated content may be incorrect.">
            <a:extLst>
              <a:ext uri="{FF2B5EF4-FFF2-40B4-BE49-F238E27FC236}">
                <a16:creationId xmlns:a16="http://schemas.microsoft.com/office/drawing/2014/main" id="{4D9FE9F8-6207-0F73-A14F-53E2419EA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015" y="919654"/>
            <a:ext cx="7078716" cy="530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5DDB65-628B-E09C-94F6-64A228E8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E16884-6CC2-CA1F-AB9C-27CC3AE2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3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11DA39E-96BA-7E03-58AF-654AE0579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Project </a:t>
            </a:r>
            <a:r>
              <a:rPr lang="de-DE" sz="2400" err="1">
                <a:latin typeface="Verdana"/>
                <a:ea typeface="Verdana"/>
              </a:rPr>
              <a:t>Overview</a:t>
            </a:r>
            <a:endParaRPr lang="de-DE" sz="2400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9639B1-8E36-3C33-1F6B-FDCFCC8D8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Predictive Maintenance (</a:t>
            </a:r>
            <a:r>
              <a:rPr lang="en-US" sz="1600" err="1">
                <a:latin typeface="Verdana"/>
                <a:ea typeface="Verdana"/>
              </a:rPr>
              <a:t>PdM</a:t>
            </a:r>
            <a:r>
              <a:rPr lang="en-US" sz="1600">
                <a:latin typeface="Verdana"/>
                <a:ea typeface="Verdana"/>
              </a:rPr>
              <a:t>) for milling machines using sensor data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Goal: </a:t>
            </a:r>
            <a:r>
              <a:rPr lang="en-US" sz="1600" b="1">
                <a:latin typeface="Verdana"/>
                <a:ea typeface="Verdana"/>
              </a:rPr>
              <a:t>Predict machine failure</a:t>
            </a:r>
            <a:r>
              <a:rPr lang="en-US" sz="1600">
                <a:latin typeface="Verdana"/>
                <a:ea typeface="Verdana"/>
              </a:rPr>
              <a:t> and identify failure patterns early</a:t>
            </a:r>
            <a:endParaRPr lang="en-US" sz="1600">
              <a:solidFill>
                <a:srgbClr val="000000"/>
              </a:solidFill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Motivation: Reduce costly unplanned downtime and enable Industry 4.0 data-driven maintenance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/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Dataset: UCI Predictive Maintenance dataset</a:t>
            </a: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32739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5435-C6DE-505D-B618-29423DEC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73ADB-9F97-1215-52E5-FFDD8C3F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B2E728-ECA1-8E1A-CAB8-6D293BB3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4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0D4AC803-2259-0D28-C251-65535A7F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Data Understanding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9CFE8E5-41C9-FB42-80FF-C4FD13952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56" y="3074414"/>
            <a:ext cx="1251445" cy="571724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655A48-29BE-69ED-EB3D-8C34A559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24" y="1380281"/>
            <a:ext cx="4768538" cy="4097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EEA0D2E-1F99-14C6-9602-4849C2ED302C}"/>
              </a:ext>
            </a:extLst>
          </p:cNvPr>
          <p:cNvSpPr txBox="1"/>
          <p:nvPr/>
        </p:nvSpPr>
        <p:spPr>
          <a:xfrm>
            <a:off x="149023" y="1260126"/>
            <a:ext cx="5868601" cy="6186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10,000 </a:t>
            </a:r>
            <a:r>
              <a:rPr kumimoji="0" lang="de-DE" sz="1400" b="0" i="0" u="none" strike="noStrike" kern="1200" cap="none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samples</a:t>
            </a: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(</a:t>
            </a:r>
            <a:r>
              <a:rPr kumimoji="0" lang="de-DE" sz="1400" b="0" i="0" u="none" strike="noStrike" kern="1200" cap="none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unique</a:t>
            </a: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IDs).</a:t>
            </a:r>
            <a:endParaRPr lang="de-DE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>
                <a:solidFill>
                  <a:srgbClr val="002060"/>
                </a:solidFill>
                <a:ea typeface="Verdana"/>
              </a:rPr>
              <a:t>Type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: Quality categories — Low (50%), Medium (30%), High (20%).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Air Temperature (K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Process Temperature (K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Rotational Speed (rpm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Torque (Nm</a:t>
            </a:r>
            <a:r>
              <a:rPr lang="de-DE" sz="1400" b="1">
                <a:solidFill>
                  <a:srgbClr val="002060"/>
                </a:solidFill>
                <a:ea typeface="Verdana"/>
              </a:rPr>
              <a:t>)</a:t>
            </a:r>
            <a:endParaRPr lang="de-DE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Tool Wear (min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Targets:</a:t>
            </a:r>
            <a:endParaRPr lang="en-US" sz="1400" b="1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685800" lvl="1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 1: 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Machine Failure (Yes/No)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685800" lvl="1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 2: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Failure Type (categorical)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Tool wear failure (TWF) </a:t>
            </a:r>
            <a:endParaRPr lang="en-US" sz="1200">
              <a:ea typeface="Calibri"/>
              <a:cs typeface="Calibri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Heat dissipation failure (HDF)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Power failure (PWF)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Overstrain failure (OSF)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Random failures (RNF)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de-DE" sz="140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5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A815-69E7-C060-619F-324BF5B1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3F0037-A7C6-81E1-CE05-83031901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0C1D6-DCAF-37C8-6EDE-73CD44E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C51B65-C440-4DCE-AB71-6E7FE2C0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5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835D88-4D4C-B2F7-B94E-AB74498A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Data Exploration (CODE)</a:t>
            </a:r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1C732C-A88E-ABC4-180E-6B9EF2F5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62" y="1590466"/>
            <a:ext cx="10069736" cy="368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9C1D-34E7-09FE-33A5-88CBBFD6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F0A1CF-F6E0-F4D4-55DD-10634E2E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61ABC4-1C42-17F1-838E-2369FDF5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7272DD-1232-A1AF-2AF3-9D87DF38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BBE5540-D239-2DEF-385A-AC0CAAB9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Initial Data Exploration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7432153-343D-97B4-6FE2-6C5863427EBF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19489" cy="453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Checked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missing values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→ none found.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Checked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duplicates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→ none found.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Identified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6 numeric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and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3 categorical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features.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Converted numeric columns to </a:t>
            </a:r>
            <a:r>
              <a:rPr lang="en-US" sz="1600">
                <a:solidFill>
                  <a:srgbClr val="002060"/>
                </a:solidFill>
                <a:latin typeface="Consolas"/>
                <a:ea typeface="Verdana"/>
              </a:rPr>
              <a:t>float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type for consistency.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Removed 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UDI 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Product ID 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Found 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labeling inconsistencies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:</a:t>
            </a: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Random Failures (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RNF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) were not marked as machine failures.</a:t>
            </a:r>
          </a:p>
          <a:p>
            <a:pPr lvl="2">
              <a:buFont typeface="Arial" panose="05000000000000000000" pitchFamily="2" charset="2"/>
              <a:buChar char="•"/>
            </a:pPr>
            <a:endParaRPr lang="en-US" sz="1400">
              <a:solidFill>
                <a:srgbClr val="002060"/>
              </a:solidFill>
              <a:latin typeface="Verdana"/>
              <a:ea typeface="Verdan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Corrected target values to set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Target = 1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for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RNF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.</a:t>
            </a:r>
          </a:p>
          <a:p>
            <a:pPr lvl="2">
              <a:buFont typeface="Arial" panose="05000000000000000000" pitchFamily="2" charset="2"/>
              <a:buChar char="•"/>
            </a:pPr>
            <a:endParaRPr lang="en-US" sz="1400">
              <a:solidFill>
                <a:srgbClr val="002060"/>
              </a:solidFill>
              <a:latin typeface="Verdana"/>
              <a:ea typeface="Verdan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Removed </a:t>
            </a: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ambiguous records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(9 rows) where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Machine failure = 1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but no specific failure cause was given.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2"/>
            <a:endParaRPr lang="en-US" sz="16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9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5B72-F677-B524-0DBF-95A43A28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CB83F29-6972-106D-3D95-79C3454F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023F01-B296-C5C9-0F83-096B68CD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B96136-9593-4960-9F7A-639887A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7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AEA6EFA-9B58-1928-88F4-B84C842B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Handling Class Imbalance (SMOTE)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53AA5879-6EEC-2B15-19B9-1CFE794ECA98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Only 3.57% of observations were machine failures.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SMOTE (Synthetic Minority Oversampling Technique)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: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Generated synthetic samples for minority failure modes.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Balanced data to ~75:25 ratio (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working:failure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).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Achieved uniform representation across all failure types.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496EC2-2AB0-57F1-5F4D-D55AE5DD4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96" y="3335584"/>
            <a:ext cx="7704083" cy="28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8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2998-79CA-7E81-8FA5-9F14E414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2EC62A3-CF3F-A6DD-F58B-CDCB50E3F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0351B-D38E-8D4A-EA16-875B3B41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3F6B48-DD27-95A4-CC10-2176E687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8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CF14A6-E31C-ABA5-F81F-421C8B12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</a:t>
            </a:r>
            <a:r>
              <a:rPr lang="de-DE" sz="2400" err="1">
                <a:latin typeface="Verdana"/>
                <a:ea typeface="Verdana"/>
              </a:rPr>
              <a:t>Principal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Component</a:t>
            </a:r>
            <a:r>
              <a:rPr lang="de-DE" sz="2400">
                <a:latin typeface="Verdana"/>
                <a:ea typeface="Verdana"/>
              </a:rPr>
              <a:t> Analysis</a:t>
            </a:r>
            <a:endParaRPr lang="en-US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6B378128-E84F-577D-95C4-0DF630B4E2C2}"/>
              </a:ext>
            </a:extLst>
          </p:cNvPr>
          <p:cNvSpPr txBox="1">
            <a:spLocks/>
          </p:cNvSpPr>
          <p:nvPr/>
        </p:nvSpPr>
        <p:spPr>
          <a:xfrm>
            <a:off x="518009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Principal Component Analysis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(PCA) on numeric features.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Top 3 PCs explain most of the variance.</a:t>
            </a:r>
            <a:endParaRPr lang="en-US" sz="1600" b="1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Interpretation: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PC1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closely related to the two temperature features</a:t>
            </a:r>
            <a:endParaRPr lang="en-US" b="1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PC2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can be identified with the machine power, which is the product of Rotational Speed and Torque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PC3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Tool Wear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754C3-8E10-7616-59E0-D67A83C29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97" y="3331924"/>
            <a:ext cx="7698829" cy="281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3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A583-8B09-12FD-7CF9-21E9B4D4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BA000-EBBA-B921-48B1-E50B5125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25B9D-3078-EBA8-5C11-F02C5DA3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9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2558853-3D99-E8E2-9177-624A4450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Baseline Model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FEF259-33D0-A04E-F638-7753FED4D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037" y="1071385"/>
            <a:ext cx="10880241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Selected Random Forest as the </a:t>
            </a:r>
            <a:r>
              <a:rPr lang="en-US" sz="1600" b="1">
                <a:latin typeface="Verdana"/>
                <a:ea typeface="Verdana"/>
              </a:rPr>
              <a:t>baseline</a:t>
            </a:r>
            <a:r>
              <a:rPr lang="en-US" sz="1600">
                <a:latin typeface="Verdana"/>
                <a:ea typeface="Verdana"/>
              </a:rPr>
              <a:t> due to strong performance in </a:t>
            </a:r>
            <a:r>
              <a:rPr lang="en-US" sz="1600" err="1">
                <a:latin typeface="Verdana"/>
                <a:ea typeface="Verdana"/>
              </a:rPr>
              <a:t>PdM</a:t>
            </a:r>
            <a:r>
              <a:rPr lang="en-US" sz="1600">
                <a:latin typeface="Verdana"/>
                <a:ea typeface="Verdana"/>
              </a:rPr>
              <a:t> literature.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Robust to noise, handles mixed feature types, and offers interpretability.</a:t>
            </a:r>
            <a:endParaRPr lang="en-US" sz="1600">
              <a:solidFill>
                <a:srgbClr val="000000"/>
              </a:solidFill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Achieved </a:t>
            </a:r>
            <a:r>
              <a:rPr lang="en-US" sz="1600" b="1">
                <a:latin typeface="Verdana"/>
                <a:ea typeface="Verdana"/>
              </a:rPr>
              <a:t>95.9% accuracy</a:t>
            </a:r>
            <a:r>
              <a:rPr lang="en-US" sz="1600">
                <a:latin typeface="Verdana"/>
                <a:ea typeface="Verdana"/>
              </a:rPr>
              <a:t>, but the </a:t>
            </a:r>
            <a:r>
              <a:rPr lang="en-US" sz="1600" b="1">
                <a:latin typeface="Verdana"/>
                <a:ea typeface="Verdana"/>
              </a:rPr>
              <a:t>recall on the failure class was only ~88%</a:t>
            </a:r>
            <a:r>
              <a:rPr lang="en-US" sz="1600">
                <a:latin typeface="Verdana"/>
                <a:ea typeface="Verdana"/>
              </a:rPr>
              <a:t>, which is a significant drawback since missing failures is costly in predictive maintenance.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67207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A815-69E7-C060-619F-324BF5B1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3F0037-A7C6-81E1-CE05-83031901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0C1D6-DCAF-37C8-6EDE-73CD44E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C51B65-C440-4DCE-AB71-6E7FE2C0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10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835D88-4D4C-B2F7-B94E-AB74498A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Motivation </a:t>
            </a:r>
            <a:r>
              <a:rPr lang="de-DE" sz="2400" err="1">
                <a:latin typeface="Verdana"/>
                <a:ea typeface="Verdana"/>
              </a:rPr>
              <a:t>for</a:t>
            </a:r>
            <a:r>
              <a:rPr lang="de-DE" sz="2400">
                <a:latin typeface="Verdana"/>
                <a:ea typeface="Verdana"/>
              </a:rPr>
              <a:t> Deep Learning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79DEAC0-E7D1-9CB4-BC9D-7F34698DA05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Literature shows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Neural Network Architectures excel in </a:t>
            </a:r>
            <a:r>
              <a:rPr lang="en-US" sz="1600" b="1" err="1">
                <a:solidFill>
                  <a:srgbClr val="002060"/>
                </a:solidFill>
                <a:latin typeface="Verdana"/>
                <a:ea typeface="Verdana"/>
              </a:rPr>
              <a:t>PdM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for modeling complex nonlinear patterns in sensor data.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Neural networks can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capture higher-order interactions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among temperature, torque, speed, and tool wear.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Neural Networks 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can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generalize better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under noise and extreme operating conditions typical in industrial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Provides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complementary modeling approach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to tree-based methods → allows benchmarking and performance comparison.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83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B289-65F1-B5CA-9296-D112E3AF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1D20CF4-0963-68B7-8AAA-01F5C2B7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658630-099E-E662-8965-428EEB22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99B28C-DD90-AB1D-0EBC-50B69083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A9C65A-69ED-F1AF-A0C5-56A6F5F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Initial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Architecture</a:t>
            </a:r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AAE3A666-7757-CBD7-F2C3-D5EAAC9C0BC5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feed-forward Artificial Neural Network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2 hidden layers: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128 → 64 neurons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activations + Dropout(0.3)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Trained with Adam +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EarlyStopping</a:t>
            </a:r>
            <a:endParaRPr lang="en-US" err="1"/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4" name="Picture 3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51002582-0136-1799-8B4C-6D23591F4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1" b="2400"/>
          <a:stretch>
            <a:fillRect/>
          </a:stretch>
        </p:blipFill>
        <p:spPr>
          <a:xfrm>
            <a:off x="3628749" y="4490132"/>
            <a:ext cx="4191404" cy="15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8975-AF60-EE5C-568E-957872C9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8B16C67-CF90-49B6-C15F-B7531D37F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C9F3C8-659E-3F9E-2562-098002DB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0969D4-3335-9FAD-A91C-89EBC519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12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776353F-BE06-78E1-119E-1E0902B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Initial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Architecture (CODE)</a:t>
            </a:r>
            <a:endParaRPr lang="de-DE" sz="240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0EDA9AC-C8E6-CF1F-5829-A1CD96DE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42" y="1076877"/>
            <a:ext cx="4496886" cy="510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5C40-28A9-52F1-17B1-CC829A0A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A02CD07-20A9-A0AA-628A-AC369BA0A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6096F8-1D2D-65B0-BB2D-AED00F39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1F0BCD-105D-A082-5294-60606A23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13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2A1F21-3018-2F9C-B1DA-1609413B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Advanced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Model</a:t>
            </a:r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03A09DC-FF6D-1624-475B-605EAF245782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deep feed-forward Artificial Neural Network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ANN Architecture: 5 hidden layers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with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512 → 256 → 128 → 64 → 32 neurons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followed by a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layer.</a:t>
            </a: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Stacked dense layers with: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2"/>
            <a:r>
              <a:rPr lang="en-US" sz="1400" b="1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 activation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prevents vanishing gradients, fast and stable training.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Batch Normalization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stabilizes distributions across layers, speeds convergence.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Dropout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reduces co-adaptation, improves generalization.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L2 weight regularization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penalizes overly large weights, controls model complexity.</a:t>
            </a:r>
            <a:endParaRPr lang="en-US">
              <a:solidFill>
                <a:srgbClr val="002060"/>
              </a:solidFill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19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6D19-8290-5710-BD62-93773958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A433C1D-D078-9460-FFFF-A12926C16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8B8E5C-254E-B212-64E0-6958DDBE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F23B2E-5F66-F73E-A2A8-AB1CC7CE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14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1935E0-CB2C-CF12-F4E0-ADC0488C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dirty="0" err="1">
                <a:latin typeface="Verdana"/>
                <a:ea typeface="Verdana"/>
              </a:rPr>
              <a:t>Advanced</a:t>
            </a:r>
            <a:r>
              <a:rPr lang="de-DE" sz="2400" dirty="0">
                <a:latin typeface="Verdana"/>
                <a:ea typeface="Verdana"/>
              </a:rPr>
              <a:t> </a:t>
            </a:r>
            <a:r>
              <a:rPr lang="de-DE" sz="2400" dirty="0" err="1">
                <a:latin typeface="Verdana"/>
                <a:ea typeface="Verdana"/>
              </a:rPr>
              <a:t>Neural</a:t>
            </a:r>
            <a:r>
              <a:rPr lang="de-DE" sz="2400" dirty="0">
                <a:latin typeface="Verdana"/>
                <a:ea typeface="Verdana"/>
              </a:rPr>
              <a:t> Network Architecture (CODE)</a:t>
            </a:r>
            <a:endParaRPr lang="de-DE" sz="24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14657F-27F7-2E68-9362-AAFBD9C4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842" y="919437"/>
            <a:ext cx="5939177" cy="52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93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97C8-93F0-D31A-B95C-655539162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C3D7002-0C86-8FC4-C52C-01D56474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B2467D-3124-CF2C-D173-E7B6ADD15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A141A9-22C3-0721-9499-583265C0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15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C8F0C7-C7AB-2FEC-2631-4FA4F2C0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Training </a:t>
            </a:r>
            <a:r>
              <a:rPr lang="de-DE" sz="2400" err="1">
                <a:latin typeface="Verdana"/>
                <a:ea typeface="Verdana"/>
              </a:rPr>
              <a:t>Strategy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C20F8626-B688-2D77-1682-E75C7EAB708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Adam optimizer: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adapts the learning rate automatically, helping the model learn steadily and efficiently.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Early Stopping: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stops training when validation performance no longer improves, preventing overfitting and keeping the best model.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Learning Rate Reduction: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lowers the learning rate when progress slows, allowing finer adjustments during later training stages.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Batch size (32):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balances training stability and computation speed.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Epoch limit (200):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high flexibility, but training usually stops earlier due to Early Stopping.</a:t>
            </a:r>
            <a:endParaRPr lang="en-US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2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A454-82D6-BDFD-9812-3872FA20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C876F24-D882-4DF5-2F53-159346A31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39C481-A773-2567-38AA-4465127A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C8D7B1-9C0B-FA6B-B09D-E6AE64DC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555439-F0B4-05A8-FDBB-11B4340C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Comparison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74A27593-D602-BD15-AC13-0C2AAD8B187A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ANN shows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stronger overall performance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improving the accuracy from 95.9% to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96.8%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.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The ANN drastically improves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recall on the Failure class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which is the single most important metric in predictive maintenance.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RF remains strong and interpretable, but ANN captures deeper nonlinear patterns, especially in rare failure conditions.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ANN provides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better balance between both classes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resulting in higher macro and weighted F1-scores.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EB45E-15D6-FA16-D2F8-EFD0F5EA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" b="2905"/>
          <a:stretch>
            <a:fillRect/>
          </a:stretch>
        </p:blipFill>
        <p:spPr>
          <a:xfrm>
            <a:off x="672170" y="3667782"/>
            <a:ext cx="4206043" cy="1587522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CEFE2D2-DED2-C3D6-AA9C-C9451F5CA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7" b="1971"/>
          <a:stretch>
            <a:fillRect/>
          </a:stretch>
        </p:blipFill>
        <p:spPr>
          <a:xfrm>
            <a:off x="6094030" y="3666633"/>
            <a:ext cx="4124001" cy="158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7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4997-6620-3F07-451D-E23587DA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C82D09-5392-548A-B915-A7849525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C5EC75-0B4A-DC86-D8E1-D8BB9F34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01.12.2025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EDE91C-85D0-0295-CD79-085EBCF8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17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263438-DAC0-01A5-9E0E-C2562565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Future Work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49A440AD-B5E5-06A6-BD10-FB315C18F490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Move from model training to deployment phase</a:t>
            </a:r>
            <a:endParaRPr lang="en-US" sz="18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Build an inference pipeline to process real machine sensor inputs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Develop an interactive </a:t>
            </a:r>
            <a:r>
              <a:rPr lang="en-US" sz="1800" err="1">
                <a:solidFill>
                  <a:srgbClr val="002060"/>
                </a:solidFill>
                <a:latin typeface="Verdana"/>
                <a:ea typeface="Verdana"/>
              </a:rPr>
              <a:t>PdM</a:t>
            </a: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 dashboard using </a:t>
            </a:r>
            <a:r>
              <a:rPr lang="en-US" sz="1800" b="1" err="1">
                <a:solidFill>
                  <a:srgbClr val="002060"/>
                </a:solidFill>
                <a:latin typeface="Verdana"/>
                <a:ea typeface="Verdana"/>
              </a:rPr>
              <a:t>Streamlit</a:t>
            </a: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</a:rPr>
              <a:t> </a:t>
            </a: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where users can input data and receive predictions</a:t>
            </a:r>
          </a:p>
          <a:p>
            <a:pPr marL="457200" lvl="1" indent="0">
              <a:buNone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27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DP-B-5_Präsentationsvorlage" id="{128D2E0A-A394-411D-BD24-FC1AB16537CF}" vid="{41852122-8DFA-43C1-9355-1D6B5715634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MDP-B-5_Präsentationsvorlage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</vt:lpstr>
      <vt:lpstr>PowerPoint Presentation</vt:lpstr>
      <vt:lpstr>Project Timeline</vt:lpstr>
      <vt:lpstr>Project Overview</vt:lpstr>
      <vt:lpstr>Recap: Data Understanding</vt:lpstr>
      <vt:lpstr>Recap: Data Exploration (CODE)</vt:lpstr>
      <vt:lpstr>Recap: Initial Data Exploration</vt:lpstr>
      <vt:lpstr>Recap: Handling Class Imbalance (SMOTE)</vt:lpstr>
      <vt:lpstr>Recap: Principal Component Analysis</vt:lpstr>
      <vt:lpstr>Recap: Baseline Model</vt:lpstr>
      <vt:lpstr>Motivation for Deep Learning</vt:lpstr>
      <vt:lpstr>Initial Neural Network Architecture</vt:lpstr>
      <vt:lpstr>Initial Neural Network Architecture (CODE)</vt:lpstr>
      <vt:lpstr>Advanced Neural Network Model</vt:lpstr>
      <vt:lpstr>Advanced Neural Network Architecture (CODE)</vt:lpstr>
      <vt:lpstr>Training Strategy</vt:lpstr>
      <vt:lpstr>Result Comparison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Robotik</dc:title>
  <dc:creator>Johannes Vogl</dc:creator>
  <cp:revision>5</cp:revision>
  <dcterms:created xsi:type="dcterms:W3CDTF">2024-01-07T18:27:34Z</dcterms:created>
  <dcterms:modified xsi:type="dcterms:W3CDTF">2025-12-01T13:51:11Z</dcterms:modified>
</cp:coreProperties>
</file>