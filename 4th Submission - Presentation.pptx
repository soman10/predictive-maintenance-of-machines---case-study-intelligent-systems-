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18" r:id="rId3"/>
    <p:sldId id="294" r:id="rId4"/>
    <p:sldId id="325" r:id="rId5"/>
    <p:sldId id="309" r:id="rId6"/>
    <p:sldId id="326" r:id="rId7"/>
    <p:sldId id="319" r:id="rId8"/>
    <p:sldId id="327" r:id="rId9"/>
    <p:sldId id="331" r:id="rId10"/>
    <p:sldId id="328" r:id="rId11"/>
    <p:sldId id="305" r:id="rId12"/>
    <p:sldId id="317" r:id="rId13"/>
    <p:sldId id="313" r:id="rId14"/>
    <p:sldId id="329" r:id="rId15"/>
    <p:sldId id="330" r:id="rId16"/>
    <p:sldId id="332" r:id="rId17"/>
    <p:sldId id="322" r:id="rId18"/>
    <p:sldId id="306" r:id="rId19"/>
    <p:sldId id="312" r:id="rId20"/>
    <p:sldId id="320" r:id="rId21"/>
    <p:sldId id="303" r:id="rId22"/>
    <p:sldId id="304" r:id="rId23"/>
    <p:sldId id="323" r:id="rId24"/>
    <p:sldId id="321" r:id="rId25"/>
    <p:sldId id="324" r:id="rId26"/>
    <p:sldId id="316" r:id="rId27"/>
    <p:sldId id="314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11024C-B526-0DD7-F56F-10C2272B7F59}" v="369" dt="2025-12-17T23:52:10.730"/>
    <p1510:client id="{1DE27CEF-9420-C2B4-7B2E-AD890F361190}" v="19" dt="2025-12-18T09:03:29.642"/>
    <p1510:client id="{597704AC-915B-6430-9672-7953A6B8BC4E}" v="16" dt="2025-12-18T10:02:33.229"/>
    <p1510:client id="{DDBD06FF-7910-B6D7-B1A4-3810AD8847AB}" v="89" dt="2025-12-18T11:09:21.797"/>
    <p1510:client id="{F63A3F4B-5303-28F1-9F50-AE1E77867835}" v="178" dt="2025-12-18T11:24:18.9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22E15-3370-419E-AB23-4A29B0882EB8}" type="datetimeFigureOut">
              <a:rPr lang="de-DE" smtClean="0"/>
              <a:t>21.12.2025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399619-4B08-432A-9126-E69094AEECA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863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8EDC8022-D114-B3DB-C98C-48D579B48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50830"/>
            <a:ext cx="9144000" cy="720000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CBE88C-22D6-A1D0-8993-B1F841DD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A7C20B81-EF76-43B2-97F9-22082C06D793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0ACAD9C-B577-D6AA-DD2C-9C1749F4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0B508F-3501-BE0E-28DA-D007DE0C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fld id="{3C884321-03BC-4B89-A235-71C364322ED5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F1E8828-73B7-BF60-B17A-6479E0F92A55}"/>
              </a:ext>
            </a:extLst>
          </p:cNvPr>
          <p:cNvSpPr/>
          <p:nvPr userDrawn="1"/>
        </p:nvSpPr>
        <p:spPr>
          <a:xfrm>
            <a:off x="224286" y="198408"/>
            <a:ext cx="11743427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171BC03-B0AE-4F1C-305D-91201D64D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86" y="198408"/>
            <a:ext cx="9317214" cy="720000"/>
          </a:xfrm>
        </p:spPr>
        <p:txBody>
          <a:bodyPr anchor="ctr">
            <a:noAutofit/>
          </a:bodyPr>
          <a:lstStyle>
            <a:lvl1pPr algn="l"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9" name="Grafik 8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9614C45A-7F49-561C-EBF2-B410E5DFB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95EE95BB-8FD7-A84E-73B3-D4122EA5ED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0" y="1970088"/>
            <a:ext cx="9144000" cy="36369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DA00AEB-41F4-DE18-0B1A-9EC9F34FA3EB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0565985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0C3A8-51D6-13EC-0A8E-6F68CC0FE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E0AB93-A083-2D7B-32A5-D3C15744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32D4B-DDCC-491B-A552-2A6CE08C8F66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4866A-70C0-A363-E1ED-170FF078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3DFEB-9D20-E62B-8E4D-D5C52451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179A5F-1302-1F02-855F-4E85F7D95494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B38221-C50D-2476-4BA6-F038B342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198409"/>
            <a:ext cx="9317213" cy="7200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0" name="Grafik 9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B02D3337-1725-720C-A520-8D35D8665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C9A94ABF-B8E0-4329-868D-0A330D129A0E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0C1B3666-A441-40AA-B829-41F09E983E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8"/>
            <a:ext cx="11743426" cy="613938"/>
          </a:xfrm>
        </p:spPr>
        <p:txBody>
          <a:bodyPr anchor="ctr"/>
          <a:lstStyle>
            <a:lvl1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557868157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90C3A8-51D6-13EC-0A8E-6F68CC0FE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2102"/>
            <a:ext cx="10515600" cy="5204861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E0AB93-A083-2D7B-32A5-D3C157446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8B895-7CE5-402F-80C0-0BF921356B10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D4866A-70C0-A363-E1ED-170FF078C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C3DFEB-9D20-E62B-8E4D-D5C52451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179A5F-1302-1F02-855F-4E85F7D95494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B38221-C50D-2476-4BA6-F038B3422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287" y="198409"/>
            <a:ext cx="9317213" cy="720000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pic>
        <p:nvPicPr>
          <p:cNvPr id="10" name="Grafik 9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B02D3337-1725-720C-A520-8D35D8665F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47"/>
            <a:ext cx="2426213" cy="426721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16A4EAB6-9E74-2AF6-1ADD-72DA91E391AF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9022743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6D0D75-7F83-6A83-5F4D-9D8C254B3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F208D5-404C-BAA4-C607-83B1F2CE7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7F13E6-4CF9-D3C4-F639-DD86F5D72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9D04D-F0F5-4C62-9BD0-563E37F7A095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974481-765F-872C-9262-6B3FA646A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E42653E-258B-4B18-5707-0D51A9703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7607233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0CB6B-5589-8464-0A29-BF852124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ECA672-F110-8616-5C28-1C8445F5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1544E-78A9-A88A-78F9-E2DE854B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C524C-83C6-40AC-94DA-4818C54607BC}" type="datetime1">
              <a:rPr lang="de-DE" smtClean="0"/>
              <a:t>21.12.2025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29A38-DAAD-75B6-257A-C3BF466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57A969-D5AB-1057-89BA-C0351B6E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4D0956-4515-CE03-188A-E51303435C0E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465A69C-FC50-E245-AF67-015365C521E2}"/>
              </a:ext>
            </a:extLst>
          </p:cNvPr>
          <p:cNvSpPr txBox="1">
            <a:spLocks/>
          </p:cNvSpPr>
          <p:nvPr userDrawn="1"/>
        </p:nvSpPr>
        <p:spPr>
          <a:xfrm>
            <a:off x="224286" y="198408"/>
            <a:ext cx="9317214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defRPr>
            </a:lvl1pPr>
          </a:lstStyle>
          <a:p>
            <a:endParaRPr lang="de-DE" sz="4000"/>
          </a:p>
        </p:txBody>
      </p:sp>
      <p:pic>
        <p:nvPicPr>
          <p:cNvPr id="11" name="Grafik 10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8C6A2D9A-9F20-E51F-2C0A-6B0139DFA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88"/>
            <a:ext cx="2426213" cy="42672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D69B7A-3BB8-A2B6-5065-68B062CDF464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5F4FA3B9-74E3-E990-348E-B43B542F4C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8"/>
            <a:ext cx="11743426" cy="613938"/>
          </a:xfrm>
        </p:spPr>
        <p:txBody>
          <a:bodyPr anchor="ctr"/>
          <a:lstStyle>
            <a:lvl1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23AEC2A9-6D61-B0BF-9024-8F7EE0782FA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23838" y="198408"/>
            <a:ext cx="9317037" cy="720001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54022365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F0CB6B-5589-8464-0A29-BF852124B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972101"/>
            <a:ext cx="5181600" cy="52048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1ECA672-F110-8616-5C28-1C8445F5E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72101"/>
            <a:ext cx="5181600" cy="5204862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2D1544E-78A9-A88A-78F9-E2DE854B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82291-B762-4BCB-B685-6A37891D4545}" type="datetime1">
              <a:rPr lang="de-DE" smtClean="0"/>
              <a:t>21.12.2025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3729A38-DAAD-75B6-257A-C3BF4664C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D57A969-D5AB-1057-89BA-C0351B6E6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D4D0956-4515-CE03-188A-E51303435C0E}"/>
              </a:ext>
            </a:extLst>
          </p:cNvPr>
          <p:cNvSpPr/>
          <p:nvPr userDrawn="1"/>
        </p:nvSpPr>
        <p:spPr>
          <a:xfrm>
            <a:off x="224287" y="198408"/>
            <a:ext cx="11743426" cy="720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1" name="Grafik 10" descr="Ein Bild, das Schrift, Text, Grafiken, Grafikdesign enthält.&#10;&#10;Automatisch generierte Beschreibung">
            <a:extLst>
              <a:ext uri="{FF2B5EF4-FFF2-40B4-BE49-F238E27FC236}">
                <a16:creationId xmlns:a16="http://schemas.microsoft.com/office/drawing/2014/main" id="{8C6A2D9A-9F20-E51F-2C0A-6B0139DFA9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00" y="345088"/>
            <a:ext cx="2426213" cy="426721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9AD69B7A-3BB8-A2B6-5065-68B062CDF464}"/>
              </a:ext>
            </a:extLst>
          </p:cNvPr>
          <p:cNvSpPr/>
          <p:nvPr userDrawn="1"/>
        </p:nvSpPr>
        <p:spPr>
          <a:xfrm>
            <a:off x="224287" y="6230656"/>
            <a:ext cx="11743426" cy="7200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7615E2A3-98F5-A7BE-3659-BAFF5CE1C1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4286" y="198408"/>
            <a:ext cx="9317213" cy="719999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298243012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03264-800C-C284-DCF7-2B4BB98C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F4FD0E-15FE-125C-7457-0D0730F3E4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A4DE181-B758-162A-265D-715CD12F2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1FB11A-FFBA-7B13-0D26-D0FC91EF7D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97504AF-2D05-74A6-631B-235B9F6060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6BB4-4601-3DD2-EBE4-A01B0025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DC0F-FCCF-436D-B462-3925CE2E58BF}" type="datetime1">
              <a:rPr lang="de-DE" smtClean="0"/>
              <a:t>21.12.2025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54F213E-D4E6-40BB-609E-451DDECC7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9CCE5DC-0BB1-C7FA-3975-442FCB732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9260430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D4B49E-4519-F231-F7AF-00B3B6693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22C062A-542B-B0B9-01FC-D97C6B1C1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3D51-A1B3-4B7C-A0BC-37A8B59EF5D1}" type="datetime1">
              <a:rPr lang="de-DE" smtClean="0"/>
              <a:t>21.12.2025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3604A5-7594-9203-72EF-331618A3A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53CC75-54EA-FA23-7701-8EEC8EC35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59014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4E7DD1-6F81-33D8-8E15-2192730C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A7A6-A2A4-40C8-9313-D1BCB096C242}" type="datetime1">
              <a:rPr lang="de-DE" smtClean="0"/>
              <a:t>21.12.2025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CBA5A4C-ABD9-19C9-0F05-7179E472C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E810F0-783A-25DE-A5FF-49DD584F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559258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F75445-9197-DAAD-315B-1B8AD071F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11B9AC-5AF0-2F34-E9AE-7E56EFF4E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991D5CD-7683-EF45-C3D8-7A6ACAF68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04E4D3-F432-DB44-F6BC-0963A98C3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795D9-1194-4828-8F1D-FF60AC61B7E5}" type="datetime1">
              <a:rPr lang="de-DE" smtClean="0"/>
              <a:t>21.12.2025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81BA526-A2D3-3042-73DA-A65C471A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C1D7639-E38B-720E-0989-499FEBB5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603315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F2EAB2-EC53-7E48-BD92-EBFAD8CE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A6E6FDF-13AF-0BBA-B710-A279D72A9B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190A76B-7CCE-F15A-FABA-35501E5E4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C9207A-800C-A2E4-89A1-92A8FAE19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DA15-A852-4AFC-97CC-3DE8A5814030}" type="datetime1">
              <a:rPr lang="de-DE" smtClean="0"/>
              <a:t>21.12.2025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B6A96-0311-3F24-2ED8-EBF877EBB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74CAA10-CD38-7D79-66EF-D57B73C5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8831763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429CD0-5BAB-1CF1-5B8F-D59C74E6F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525ADB-AF41-88A1-D744-6F3CD1F1BC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40B143-CAD9-A0AD-CC66-447E2BA10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E97B5-4881-4C7A-B029-3BACCA7562ED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E25EC4-4087-0266-207E-05D0796A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1C44909-70F5-7653-023D-EFFD5B220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277399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9B99344-F0C8-1CD9-C09D-7C7EE20889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A80F48D-9D79-2AEB-8022-689B08BEC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EA3ADBE-3EBA-3684-EC0A-67BE51AA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D2520-3A19-4ABE-A8AE-6C049CB10B09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ABC7CA-6919-65E4-971D-B8679AD5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9F0C3F8-752A-F100-001E-C9BA1DBC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14060744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F151F13-F7A3-616A-18F5-1ED8653B8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88F5D7C-8965-2181-EBC0-8F218DF48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8C5ACD-33F5-3D01-0423-F3C8A0995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9CFEF-12DF-4F90-BD60-A86EF247E2CD}" type="datetime1">
              <a:rPr lang="de-DE" smtClean="0"/>
              <a:t>21.12.2025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DABE83-A3E4-9841-8C03-533709055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6AD623-0150-DFD7-580B-ACB1CD8F96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84321-03BC-4B89-A235-71C364322ED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9278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61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B693B5EB-DDCC-2B7F-4FB4-1CF680E7D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7450" y="2097893"/>
            <a:ext cx="7277100" cy="3078971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ctr">
            <a:normAutofit/>
          </a:bodyPr>
          <a:lstStyle/>
          <a:p>
            <a:r>
              <a:rPr lang="en-US" sz="1400"/>
              <a:t>Case Study: Intelligent Systems (WS25/26)</a:t>
            </a:r>
            <a:endParaRPr lang="de-DE" sz="1400"/>
          </a:p>
          <a:p>
            <a:pPr>
              <a:lnSpc>
                <a:spcPct val="100000"/>
              </a:lnSpc>
            </a:pPr>
            <a:r>
              <a:rPr lang="en-US" sz="3200"/>
              <a:t>Predictive Maintenance of Milling Machines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de-DE" sz="14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1400"/>
              <a:t>Lecturer: </a:t>
            </a:r>
            <a:r>
              <a:rPr lang="de-DE" sz="1400" b="0"/>
              <a:t>Hamidreza Heidari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de-DE" sz="1400"/>
              <a:t>Members: </a:t>
            </a:r>
            <a:r>
              <a:rPr lang="de-DE" sz="1400" b="0"/>
              <a:t>Irtaza Janjua, Soman Tariq, Sadeed Ahmad, Usama Ali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71D8C-08DE-DF37-94F4-24535D94F1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6626" y="6408434"/>
            <a:ext cx="2743200" cy="365125"/>
          </a:xfrm>
        </p:spPr>
        <p:txBody>
          <a:bodyPr/>
          <a:lstStyle/>
          <a:p>
            <a:fld id="{F2919070-17E7-47A5-8399-76CC63D6E563}" type="datetime1">
              <a:rPr lang="de-DE" smtClean="0">
                <a:solidFill>
                  <a:schemeClr val="bg1"/>
                </a:solidFill>
              </a:rPr>
              <a:t>21.12.2025</a:t>
            </a:fld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4B4F50-F11C-22D2-8C0A-C9F59E55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9026" y="6408434"/>
            <a:ext cx="2743200" cy="365125"/>
          </a:xfrm>
        </p:spPr>
        <p:txBody>
          <a:bodyPr/>
          <a:lstStyle/>
          <a:p>
            <a:fld id="{3C884321-03BC-4B89-A235-71C364322ED5}" type="slidenum">
              <a:rPr lang="de-DE" smtClean="0">
                <a:solidFill>
                  <a:schemeClr val="bg1"/>
                </a:solidFill>
              </a:rPr>
              <a:pPr/>
              <a:t>1</a:t>
            </a:fld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928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A6E75E-9B29-95A7-DAA3-D9676FBAF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72FA00E-5EDF-E3FB-1EB2-B815031C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DF8F3AB-9D24-C630-7ED2-B062A640A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3866982-F020-4B7A-C5BD-A2A7F901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/>
              <a:t>Project Timeline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825D17-33D7-50D1-282D-EF0133A303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889068" cy="5445672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PK" sz="1600"/>
          </a:p>
        </p:txBody>
      </p:sp>
      <p:pic>
        <p:nvPicPr>
          <p:cNvPr id="2" name="Picture 1" descr="A graph on a blue background&#10;&#10;AI-generated content may be incorrect.">
            <a:extLst>
              <a:ext uri="{FF2B5EF4-FFF2-40B4-BE49-F238E27FC236}">
                <a16:creationId xmlns:a16="http://schemas.microsoft.com/office/drawing/2014/main" id="{4D9FE9F8-6207-0F73-A14F-53E2419EA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015" y="919654"/>
            <a:ext cx="7078716" cy="5302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58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45DDB65-628B-E09C-94F6-64A228E8C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E16884-6CC2-CA1F-AB9C-27CC3AE21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3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D11DA39E-96BA-7E03-58AF-654AE0579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Project </a:t>
            </a:r>
            <a:r>
              <a:rPr lang="de-DE" sz="2400" err="1">
                <a:latin typeface="Verdana"/>
                <a:ea typeface="Verdana"/>
              </a:rPr>
              <a:t>Overview</a:t>
            </a:r>
            <a:endParaRPr lang="de-DE" sz="2400" err="1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A9639B1-8E36-3C33-1F6B-FDCFCC8D80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Predictive Maintenance (</a:t>
            </a:r>
            <a:r>
              <a:rPr lang="en-US" sz="1600" err="1">
                <a:latin typeface="Verdana"/>
                <a:ea typeface="Verdana"/>
              </a:rPr>
              <a:t>PdM</a:t>
            </a:r>
            <a:r>
              <a:rPr lang="en-US" sz="1600">
                <a:latin typeface="Verdana"/>
                <a:ea typeface="Verdana"/>
              </a:rPr>
              <a:t>) for milling machines using sensor data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Goal: </a:t>
            </a:r>
            <a:r>
              <a:rPr lang="en-US" sz="1600" b="1">
                <a:latin typeface="Verdana"/>
                <a:ea typeface="Verdana"/>
              </a:rPr>
              <a:t>Predict machine failure</a:t>
            </a:r>
            <a:r>
              <a:rPr lang="en-US" sz="1600">
                <a:latin typeface="Verdana"/>
                <a:ea typeface="Verdana"/>
              </a:rPr>
              <a:t> and identify failure patterns early</a:t>
            </a:r>
            <a:endParaRPr lang="en-US" sz="1600">
              <a:solidFill>
                <a:srgbClr val="000000"/>
              </a:solidFill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Motivation: Reduce costly unplanned downtime and enable Industry 4.0 data-driven maintenance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/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Dataset: UCI Predictive Maintenance dataset</a:t>
            </a: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332739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28272-5708-06EE-AB71-B2D3227BC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6F4589C-53EF-410A-6981-2E030E7EC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0C2A13-0162-6A58-0CAB-B51BF4F60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4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523E0BAC-F652-A41B-FE23-1D872D89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Project </a:t>
            </a:r>
            <a:r>
              <a:rPr lang="de-DE" sz="2400" err="1">
                <a:latin typeface="Verdana"/>
                <a:ea typeface="Verdana"/>
              </a:rPr>
              <a:t>Overview</a:t>
            </a:r>
            <a:endParaRPr lang="de-DE" sz="2400" err="1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5018436-2DDA-F0A2-5BE2-AF2F7DB225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Industrial Problem</a:t>
            </a:r>
            <a:endParaRPr lang="en-US" sz="1600"/>
          </a:p>
          <a:p>
            <a:pPr marL="0" indent="0">
              <a:buNone/>
            </a:pPr>
            <a:endParaRPr lang="en-US" sz="1600" b="1">
              <a:latin typeface="Verdana"/>
              <a:ea typeface="Verdana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Milling machines are critical production assets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Unexpected machine failures lead to </a:t>
            </a:r>
            <a:r>
              <a:rPr lang="en-US" sz="1600" b="1">
                <a:latin typeface="Verdana"/>
                <a:ea typeface="Verdana"/>
              </a:rPr>
              <a:t>unplanned downtime</a:t>
            </a:r>
            <a:r>
              <a:rPr lang="en-US" sz="1600">
                <a:latin typeface="Verdana"/>
                <a:ea typeface="Verdana"/>
              </a:rPr>
              <a:t>, production delays, and high maintenance costs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Traditional preventive maintenance often replaces components </a:t>
            </a:r>
            <a:r>
              <a:rPr lang="en-US" sz="1600" b="1">
                <a:latin typeface="Verdana"/>
                <a:ea typeface="Verdana"/>
              </a:rPr>
              <a:t>too early or too late</a:t>
            </a:r>
            <a:endParaRPr lang="en-US"/>
          </a:p>
          <a:p>
            <a:pPr>
              <a:buFont typeface="Arial"/>
              <a:buChar char="•"/>
            </a:pPr>
            <a:endParaRPr lang="en-US" sz="1600" b="1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Main Goal</a:t>
            </a:r>
            <a:endParaRPr lang="en-US"/>
          </a:p>
          <a:p>
            <a:pPr marL="0" indent="0">
              <a:buNone/>
            </a:pPr>
            <a:endParaRPr lang="en-US" sz="1600" b="1">
              <a:latin typeface="Verdana"/>
              <a:ea typeface="Verdana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Use </a:t>
            </a:r>
            <a:r>
              <a:rPr lang="en-US" sz="1600" b="1">
                <a:latin typeface="Verdana"/>
                <a:ea typeface="Verdana"/>
              </a:rPr>
              <a:t>machine sensor data</a:t>
            </a:r>
            <a:r>
              <a:rPr lang="en-US" sz="1600">
                <a:latin typeface="Verdana"/>
                <a:ea typeface="Verdana"/>
              </a:rPr>
              <a:t> (e.g. temperature, torque, vibration) to </a:t>
            </a:r>
            <a:r>
              <a:rPr lang="en-US" sz="1600" b="1">
                <a:latin typeface="Verdana"/>
                <a:ea typeface="Verdana"/>
              </a:rPr>
              <a:t>Detect early signs of machine degradation</a:t>
            </a:r>
            <a:endParaRPr lang="en-US"/>
          </a:p>
          <a:p>
            <a:pPr>
              <a:buFont typeface="Arial"/>
              <a:buChar char="•"/>
            </a:pPr>
            <a:r>
              <a:rPr lang="en-US" sz="1600" b="1">
                <a:latin typeface="Verdana"/>
                <a:ea typeface="Verdana"/>
              </a:rPr>
              <a:t>Predict failures before breakdown occurs</a:t>
            </a:r>
            <a:r>
              <a:rPr lang="en-US" sz="1600">
                <a:latin typeface="Verdana"/>
                <a:ea typeface="Verdana"/>
              </a:rPr>
              <a:t>, enabling planned maintenance</a:t>
            </a:r>
            <a:endParaRPr lang="en-US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000056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6B5435-C6DE-505D-B618-29423DEC2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173ADB-9F97-1215-52E5-FFDD8C3F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B2E728-ECA1-8E1A-CAB8-6D293BB3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5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0D4AC803-2259-0D28-C251-65535A7F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Data Understanding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9CFE8E5-41C9-FB42-80FF-C4FD13952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56" y="3074414"/>
            <a:ext cx="1251445" cy="571724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PK" sz="16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655A48-29BE-69ED-EB3D-8C34A5591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7624" y="1380281"/>
            <a:ext cx="4768538" cy="40974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EEA0D2E-1F99-14C6-9602-4849C2ED302C}"/>
              </a:ext>
            </a:extLst>
          </p:cNvPr>
          <p:cNvSpPr txBox="1"/>
          <p:nvPr/>
        </p:nvSpPr>
        <p:spPr>
          <a:xfrm>
            <a:off x="149023" y="1260126"/>
            <a:ext cx="5868601" cy="61863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10,000 </a:t>
            </a:r>
            <a:r>
              <a:rPr kumimoji="0" lang="de-DE" sz="1400" b="0" i="0" u="none" strike="noStrike" kern="1200" cap="none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samples</a:t>
            </a:r>
            <a:r>
              <a:rPr kumimoji="0" lang="de-DE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 (</a:t>
            </a:r>
            <a:r>
              <a:rPr kumimoji="0" lang="de-DE" sz="1400" b="0" i="0" u="none" strike="noStrike" kern="1200" cap="none" normalizeH="0" baseline="0" noProof="0" err="1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unique</a:t>
            </a:r>
            <a:r>
              <a:rPr kumimoji="0" lang="de-DE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 IDs).</a:t>
            </a:r>
            <a:endParaRPr lang="de-DE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1">
                <a:solidFill>
                  <a:srgbClr val="002060"/>
                </a:solidFill>
                <a:ea typeface="Verdana"/>
              </a:rPr>
              <a:t>Type</a:t>
            </a:r>
            <a:r>
              <a:rPr kumimoji="0" lang="en-US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: Quality categories — Low (50%), Medium (30%), High (20%).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Air Temperature (K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Process Temperature (K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Rotational Speed (rpm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Torque (Nm</a:t>
            </a:r>
            <a:r>
              <a:rPr lang="de-DE" sz="1400" b="1">
                <a:solidFill>
                  <a:srgbClr val="002060"/>
                </a:solidFill>
                <a:ea typeface="Verdana"/>
              </a:rPr>
              <a:t>)</a:t>
            </a:r>
            <a:endParaRPr lang="de-DE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Tool Wear (min</a:t>
            </a:r>
            <a:r>
              <a:rPr lang="en-US" sz="1400" b="1">
                <a:solidFill>
                  <a:srgbClr val="002060"/>
                </a:solidFill>
                <a:ea typeface="Verdana"/>
              </a:rPr>
              <a:t>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Targets:</a:t>
            </a:r>
            <a:endParaRPr lang="en-US" sz="1400" b="1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685800" lvl="1" indent="-2286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Target 1: </a:t>
            </a:r>
            <a:r>
              <a:rPr kumimoji="0" lang="en-US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Machine Failure (Yes/No)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685800" lvl="1" indent="-2286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kumimoji="0" lang="en-US" sz="14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Target 2:</a:t>
            </a:r>
            <a:r>
              <a:rPr kumimoji="0" lang="en-US" sz="14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Verdana"/>
                <a:cs typeface="+mn-cs"/>
              </a:rPr>
              <a:t> Failure Type (categorical)</a:t>
            </a:r>
            <a:endParaRPr lang="en-US" sz="1400" b="0" i="0" u="none" strike="noStrike" kern="1200" cap="none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Verdana"/>
              <a:cs typeface="Calibri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Tool wear failure (TWF) </a:t>
            </a:r>
            <a:endParaRPr lang="en-US" sz="1200">
              <a:ea typeface="Calibri"/>
              <a:cs typeface="Calibri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Heat dissipation failure (HDF)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Power failure (PWF)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Overstrain failure (OSF) 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1143000" lvl="2" indent="-228600">
              <a:buAutoNum type="arabicPeriod"/>
              <a:defRPr/>
            </a:pPr>
            <a:r>
              <a:rPr lang="en-US" sz="1200">
                <a:solidFill>
                  <a:srgbClr val="002060"/>
                </a:solidFill>
                <a:ea typeface="+mn-lt"/>
                <a:cs typeface="+mn-lt"/>
              </a:rPr>
              <a:t>Random failures (RNF)</a:t>
            </a:r>
            <a:endParaRPr lang="en-US" sz="1200">
              <a:ea typeface="Calibri" panose="020F0502020204030204"/>
              <a:cs typeface="Calibri" panose="020F0502020204030204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28600" indent="-22860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de-DE" sz="140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50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2191F-8F08-CD70-A911-1CF88971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D6ECD89-F326-E7A8-7EFA-3FD80410F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6141F8-96CA-1B63-DFA1-71BA048F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6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34E78F4A-D17F-8B59-1818-601D73BE6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Data Understanding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8AB122D-3A3C-385E-8690-25601314F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76456" y="3074414"/>
            <a:ext cx="1251445" cy="571724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endParaRPr lang="en-PK" sz="16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C87A4-EF79-5BF9-8CD3-D046FFBCE310}"/>
              </a:ext>
            </a:extLst>
          </p:cNvPr>
          <p:cNvSpPr txBox="1"/>
          <p:nvPr/>
        </p:nvSpPr>
        <p:spPr>
          <a:xfrm>
            <a:off x="621989" y="1123492"/>
            <a:ext cx="5868601" cy="492083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Data Source</a:t>
            </a:r>
            <a:endParaRPr lang="de-DE" sz="1400">
              <a:solidFill>
                <a:srgbClr val="002060"/>
              </a:solidFill>
              <a:latin typeface="Verdana"/>
              <a:ea typeface="Verdana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Industrial milling machine operating data</a:t>
            </a:r>
            <a:endParaRPr lang="de-DE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10,000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machine operating cycles</a:t>
            </a:r>
            <a:endParaRPr lang="de-DE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Three machine quality levels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:</a:t>
            </a:r>
            <a:endParaRPr lang="en-US" sz="1600">
              <a:latin typeface="Verdana"/>
              <a:ea typeface="+mn-lt"/>
              <a:cs typeface="+mn-lt"/>
            </a:endParaRPr>
          </a:p>
          <a:p>
            <a:pPr lvl="2">
              <a:buFont typeface="Wingdings" panose="020B0604020202020204" pitchFamily="34" charset="0"/>
              <a:buChar char="§"/>
              <a:defRPr/>
            </a:pP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Low (50%), Medium (30%), High (20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%)</a:t>
            </a:r>
          </a:p>
          <a:p>
            <a:pPr lvl="1">
              <a:defRPr/>
            </a:pPr>
            <a:endParaRPr lang="en-US" sz="1600" b="1">
              <a:solidFill>
                <a:srgbClr val="002060"/>
              </a:solidFill>
              <a:latin typeface="Verdana"/>
              <a:ea typeface="Calibri" panose="020F0502020204030204"/>
              <a:cs typeface="Calibri" panose="020F0502020204030204"/>
            </a:endParaRPr>
          </a:p>
          <a:p>
            <a:pPr>
              <a:defRPr/>
            </a:pP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Monitored Machine Signals</a:t>
            </a:r>
          </a:p>
          <a:p>
            <a:pPr>
              <a:defRPr/>
            </a:pPr>
            <a:endParaRPr lang="en-US" sz="1600" b="1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Air</a:t>
            </a: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temperature [K]</a:t>
            </a:r>
            <a:endParaRPr lang="en-US">
              <a:latin typeface="Verdana"/>
              <a:ea typeface="Calibri"/>
              <a:cs typeface="Calibri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Process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temperature 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  <a:cs typeface="+mn-lt"/>
              </a:rPr>
              <a:t>[K]</a:t>
            </a:r>
            <a:endParaRPr lang="en-US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Spindle speed </a:t>
            </a: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(rpm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)</a:t>
            </a:r>
            <a:endParaRPr lang="en-US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Torque (Nm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)</a:t>
            </a:r>
            <a:endParaRPr lang="de-DE"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Tool 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wear </a:t>
            </a:r>
            <a:r>
              <a:rPr kumimoji="0" lang="en-US" sz="160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(min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)</a:t>
            </a:r>
            <a:endParaRPr lang="en-US" sz="1600">
              <a:solidFill>
                <a:srgbClr val="002060"/>
              </a:solidFill>
              <a:latin typeface="Verdana"/>
              <a:ea typeface="Calibri" panose="020F0502020204030204"/>
              <a:cs typeface="Calibri" panose="020F0502020204030204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>
              <a:defRPr/>
            </a:pP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Maintenance </a:t>
            </a:r>
            <a:r>
              <a:rPr kumimoji="0" lang="en-US" sz="16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Targets</a:t>
            </a:r>
            <a:endParaRPr lang="en-US" sz="1600" b="1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>
              <a:defRPr/>
            </a:pPr>
            <a:endParaRPr lang="en-US" sz="1600" b="1">
              <a:solidFill>
                <a:srgbClr val="002060"/>
              </a:solidFill>
              <a:latin typeface="Verdana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kumimoji="0" lang="en-US" sz="1600" b="1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Machine </a:t>
            </a:r>
            <a:r>
              <a:rPr lang="en-US" sz="1600" b="1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failure: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 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Yes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 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/</a:t>
            </a:r>
            <a:r>
              <a:rPr lang="en-US" sz="1600">
                <a:solidFill>
                  <a:srgbClr val="002060"/>
                </a:solidFill>
                <a:latin typeface="Verdana"/>
                <a:ea typeface="+mn-lt"/>
                <a:cs typeface="+mn-lt"/>
              </a:rPr>
              <a:t> </a:t>
            </a:r>
            <a:r>
              <a:rPr kumimoji="0" lang="en-US" sz="1600" b="0" i="0" u="none" strike="noStrike" kern="1200" cap="none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erdana"/>
                <a:ea typeface="+mn-lt"/>
                <a:cs typeface="+mn-lt"/>
              </a:rPr>
              <a:t>No</a:t>
            </a:r>
            <a:endParaRPr lang="en-US" sz="1600">
              <a:latin typeface="Verdana"/>
              <a:ea typeface="+mn-lt"/>
              <a:cs typeface="+mn-lt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endParaRPr lang="en-US" sz="1600" b="1">
              <a:solidFill>
                <a:srgbClr val="002060"/>
              </a:solidFill>
              <a:latin typeface="Verdana"/>
              <a:ea typeface="Calibri" panose="020F0502020204030204"/>
              <a:cs typeface="Calibri" panose="020F0502020204030204"/>
            </a:endParaRPr>
          </a:p>
          <a:p>
            <a:pPr marL="228600" indent="-2286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60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423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A7A815-69E7-C060-619F-324BF5B1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3F0037-A7C6-81E1-CE05-83031901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0C1D6-DCAF-37C8-6EDE-73CD44E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C51B65-C440-4DCE-AB71-6E7FE2C0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7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835D88-4D4C-B2F7-B94E-AB74498A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Data Exploration (CODE)</a:t>
            </a:r>
            <a:endParaRPr lang="en-US" sz="240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1C732C-A88E-ABC4-180E-6B9EF2F52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62" y="1590466"/>
            <a:ext cx="10069736" cy="368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51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3AE0-62F6-1D36-AF84-79BF28EFC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7CDF933-A064-6AAB-F701-B0D5CDBDB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6174A5F-CEA8-DAB9-8B6D-A97A02ECF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94B0FB2-C2A7-6ED8-D621-E16A9DCF4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8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792C79-61B5-07DB-EEF0-13B796B02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Data Exploration</a:t>
            </a:r>
            <a:endParaRPr lang="en-US" sz="240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3BC0F339-4DD9-0482-095A-7914CAFFB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723" y="1008994"/>
            <a:ext cx="6250555" cy="516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54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02573-29FF-CB40-CE66-344288A4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F1276800-6091-47D5-41A6-63FBD4EB2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93EC8E-08CA-ADBC-C012-9D4115CC9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1150D6-DC81-93E3-A581-92474008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9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B404C5D-8053-C65C-537E-E57A3BAE5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DMU 50</a:t>
            </a:r>
            <a:endParaRPr lang="en-US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A39C0288-DE5B-2789-DED6-1BA6C06F6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723" y="1008994"/>
            <a:ext cx="6250555" cy="5165834"/>
          </a:xfrm>
          <a:prstGeom prst="rect">
            <a:avLst/>
          </a:prstGeom>
        </p:spPr>
      </p:pic>
      <p:pic>
        <p:nvPicPr>
          <p:cNvPr id="4" name="Picture 3" descr="A diagram of a machine&#10;&#10;AI-generated content may be incorrect.">
            <a:extLst>
              <a:ext uri="{FF2B5EF4-FFF2-40B4-BE49-F238E27FC236}">
                <a16:creationId xmlns:a16="http://schemas.microsoft.com/office/drawing/2014/main" id="{D6DC364B-C5DF-1AEC-3CF7-7C836DAB7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157" y="951186"/>
            <a:ext cx="6574942" cy="5223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73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A8DAF56-1E6B-7D3D-C8A8-16CE9F9E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1706784-EF98-0B94-4512-C43AFDCA8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2CD362-3DF8-33CB-2A46-783987B1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475933-BC90-D94E-C935-5AA63BE7C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10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A647A65-84A4-3275-47E1-9592C9069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Motivation </a:t>
            </a:r>
            <a:r>
              <a:rPr lang="de-DE" sz="2400" err="1">
                <a:latin typeface="Verdana"/>
                <a:ea typeface="Verdana"/>
              </a:rPr>
              <a:t>for</a:t>
            </a:r>
            <a:r>
              <a:rPr lang="de-DE" sz="2400">
                <a:latin typeface="Verdana"/>
                <a:ea typeface="Verdana"/>
              </a:rPr>
              <a:t> Deep Learning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09FB0D75-21A5-CBD5-54B3-4D03EF2FDC57}"/>
              </a:ext>
            </a:extLst>
          </p:cNvPr>
          <p:cNvSpPr txBox="1">
            <a:spLocks/>
          </p:cNvSpPr>
          <p:nvPr/>
        </p:nvSpPr>
        <p:spPr>
          <a:xfrm>
            <a:off x="838575" y="1242985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Data Balancing Strategy</a:t>
            </a:r>
            <a:endParaRPr lang="en-US">
              <a:solidFill>
                <a:srgbClr val="000000"/>
              </a:solidFill>
            </a:endParaRPr>
          </a:p>
          <a:p>
            <a:pPr marL="285750" indent="-285750"/>
            <a:r>
              <a:rPr lang="en-US" sz="1500">
                <a:solidFill>
                  <a:srgbClr val="002060"/>
                </a:solidFill>
                <a:latin typeface="Verdana"/>
                <a:ea typeface="Verdana"/>
              </a:rPr>
              <a:t>Machine failures represent </a:t>
            </a:r>
            <a:r>
              <a:rPr lang="en-US" sz="1500" b="1">
                <a:solidFill>
                  <a:srgbClr val="002060"/>
                </a:solidFill>
                <a:latin typeface="Verdana"/>
                <a:ea typeface="Verdana"/>
              </a:rPr>
              <a:t>3.57%</a:t>
            </a:r>
            <a:r>
              <a:rPr lang="en-US" sz="1500">
                <a:solidFill>
                  <a:srgbClr val="002060"/>
                </a:solidFill>
                <a:latin typeface="Verdana"/>
                <a:ea typeface="Verdana"/>
              </a:rPr>
              <a:t> of observations</a:t>
            </a:r>
            <a:endParaRPr lang="en-US" sz="1500"/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Applied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SMOTE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to oversample minority failure classes</a:t>
            </a:r>
            <a:endParaRPr lang="en-US"/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Generated synthetic samples for each failure mode</a:t>
            </a:r>
            <a:endParaRPr lang="en-US"/>
          </a:p>
          <a:p>
            <a:pPr marL="285750" indent="-285750"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Final class distribution ≈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75% normal / 25% failure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Feature Reduction &amp; Interpretation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Applied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PCA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on numerical sensor features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Top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3 principal components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capture most variance:</a:t>
            </a:r>
            <a:endParaRPr lang="en-US"/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PC1: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Temperature-related behavior</a:t>
            </a:r>
            <a:endParaRPr lang="en-US"/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PC2: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Mechanical power (speed × torque)</a:t>
            </a:r>
            <a:endParaRPr lang="en-US"/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PC3: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Tool wear progression</a:t>
            </a:r>
            <a:endParaRPr lang="en-US"/>
          </a:p>
          <a:p>
            <a:pPr lvl="1"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Modeling Strategy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Start with an interpretable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baseline model</a:t>
            </a:r>
            <a:endParaRPr lang="en-US"/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Introduce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more expressive model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for complex nonlinear patterns</a:t>
            </a:r>
            <a:endParaRPr lang="en-US"/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58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F9D1AF58-46DD-1344-1FC0-D81FA827A28B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4CF7E1F-663B-4487-98D1-7D853D8AC1CA}" type="datetime1">
              <a: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21.12.2025</a:t>
            </a:fld>
            <a:endParaRPr lang="de-DE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3" name="Foliennummernplatzhalter 6">
            <a:extLst>
              <a:ext uri="{FF2B5EF4-FFF2-40B4-BE49-F238E27FC236}">
                <a16:creationId xmlns:a16="http://schemas.microsoft.com/office/drawing/2014/main" id="{681100F9-7BFF-F649-389E-5D7761DB2683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ACBD8E6-A13B-4F2F-AC42-9EFAC4C6C72F}" type="slidenum">
              <a:t>11</a:t>
            </a:fld>
            <a:endParaRPr lang="de-DE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7789935D-89A4-0CB3-9E8A-2723BDEC1E4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de-DE" sz="2400" err="1">
                <a:latin typeface="Verdana"/>
                <a:ea typeface="Verdana"/>
              </a:rPr>
              <a:t>Methodology</a:t>
            </a:r>
            <a:r>
              <a:rPr lang="de-DE" sz="2400">
                <a:latin typeface="Verdana"/>
                <a:ea typeface="Verdana"/>
              </a:rPr>
              <a:t> flowchart</a:t>
            </a:r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5F62203F-4B23-BC24-EFEB-4E825B2847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5976454" y="3074413"/>
            <a:ext cx="1251447" cy="571719"/>
          </a:xfrm>
        </p:spPr>
        <p:txBody>
          <a:bodyPr/>
          <a:lstStyle/>
          <a:p>
            <a:pPr marL="0" lvl="0" indent="0">
              <a:buNone/>
            </a:pPr>
            <a:endParaRPr lang="en-US" sz="1600">
              <a:solidFill>
                <a:srgbClr val="002060"/>
              </a:solidFill>
              <a:latin typeface="Verdana" pitchFamily="34"/>
              <a:ea typeface="Verdana" pitchFamily="34"/>
            </a:endParaRPr>
          </a:p>
          <a:p>
            <a:pPr marL="0" lvl="0" indent="0">
              <a:buNone/>
            </a:pPr>
            <a:endParaRPr lang="en-US" sz="1600">
              <a:solidFill>
                <a:srgbClr val="002060"/>
              </a:solidFill>
              <a:latin typeface="Verdana" pitchFamily="34"/>
              <a:ea typeface="Verdana" pitchFamily="34"/>
            </a:endParaRPr>
          </a:p>
          <a:p>
            <a:pPr marL="0" lvl="0" indent="0">
              <a:buNone/>
            </a:pPr>
            <a:endParaRPr lang="en-PK" sz="1600">
              <a:solidFill>
                <a:srgbClr val="002060"/>
              </a:solidFill>
              <a:latin typeface="Verdana" pitchFamily="34"/>
              <a:ea typeface="Verdana" pitchFamily="34"/>
            </a:endParaRPr>
          </a:p>
        </p:txBody>
      </p:sp>
      <p:sp>
        <p:nvSpPr>
          <p:cNvPr id="6" name="TextBox 14">
            <a:extLst>
              <a:ext uri="{FF2B5EF4-FFF2-40B4-BE49-F238E27FC236}">
                <a16:creationId xmlns:a16="http://schemas.microsoft.com/office/drawing/2014/main" id="{540C8E63-8326-0BE4-99CB-7A42DB7C65E1}"/>
              </a:ext>
            </a:extLst>
          </p:cNvPr>
          <p:cNvSpPr txBox="1"/>
          <p:nvPr/>
        </p:nvSpPr>
        <p:spPr>
          <a:xfrm>
            <a:off x="500944" y="1309521"/>
            <a:ext cx="6096963" cy="71916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de-DE" sz="1800" b="1" i="0" u="none" strike="noStrike" kern="1200" cap="none" spc="0" baseline="0">
                <a:solidFill>
                  <a:srgbClr val="002060"/>
                </a:solidFill>
                <a:uFillTx/>
                <a:latin typeface="Verdana" pitchFamily="34"/>
                <a:ea typeface="Verdana" pitchFamily="34"/>
              </a:rPr>
              <a:t>Tools: </a:t>
            </a:r>
            <a:endParaRPr lang="en-US" sz="1800" b="0" i="0" u="none" strike="noStrike" kern="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800" b="1" i="0" u="none" strike="noStrike" kern="1200" cap="none" spc="0" baseline="0">
              <a:solidFill>
                <a:srgbClr val="002060"/>
              </a:solidFill>
              <a:uFillTx/>
              <a:latin typeface="Verdana" pitchFamily="34"/>
              <a:ea typeface="Verdana" pitchFamily="34"/>
            </a:endParaRP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83704A6A-DD24-7610-089B-987C8F7ABD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042" y="1830135"/>
            <a:ext cx="768324" cy="76832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6E630A-0E58-D0F5-5779-DA14291D1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3587" y="2645615"/>
            <a:ext cx="1171876" cy="72187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9" name="Picture 11">
            <a:extLst>
              <a:ext uri="{FF2B5EF4-FFF2-40B4-BE49-F238E27FC236}">
                <a16:creationId xmlns:a16="http://schemas.microsoft.com/office/drawing/2014/main" id="{66486AE4-AEFA-EA8C-623E-DA2A26827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25313" y="3487823"/>
            <a:ext cx="1101760" cy="59435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0" name="Picture 13" descr="Top Python Libraries Every Beginner Should Learn &amp; build projects">
            <a:extLst>
              <a:ext uri="{FF2B5EF4-FFF2-40B4-BE49-F238E27FC236}">
                <a16:creationId xmlns:a16="http://schemas.microsoft.com/office/drawing/2014/main" id="{F877A50F-08FA-0863-57CC-49AC32EB26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45275" y="4070826"/>
            <a:ext cx="1072828" cy="107282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11" name="Picture 11" descr="File:Streamlit-logo-primary-colormark-darktext.png ...">
            <a:extLst>
              <a:ext uri="{FF2B5EF4-FFF2-40B4-BE49-F238E27FC236}">
                <a16:creationId xmlns:a16="http://schemas.microsoft.com/office/drawing/2014/main" id="{B4F055AB-0708-28C3-188B-288CB1FB9F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275" y="5138242"/>
            <a:ext cx="1265703" cy="865095"/>
          </a:xfrm>
          <a:prstGeom prst="rect">
            <a:avLst/>
          </a:prstGeom>
          <a:noFill/>
          <a:ln cap="flat">
            <a:noFill/>
          </a:ln>
        </p:spPr>
      </p:pic>
      <p:grpSp>
        <p:nvGrpSpPr>
          <p:cNvPr id="12" name="İçerik Yer Tutucusu 3">
            <a:extLst>
              <a:ext uri="{FF2B5EF4-FFF2-40B4-BE49-F238E27FC236}">
                <a16:creationId xmlns:a16="http://schemas.microsoft.com/office/drawing/2014/main" id="{717EAA82-4491-918E-A9A1-7BDF847F09FC}"/>
              </a:ext>
            </a:extLst>
          </p:cNvPr>
          <p:cNvGrpSpPr/>
          <p:nvPr/>
        </p:nvGrpSpPr>
        <p:grpSpPr>
          <a:xfrm>
            <a:off x="2057445" y="1304135"/>
            <a:ext cx="9639888" cy="4730877"/>
            <a:chOff x="2057445" y="1304135"/>
            <a:chExt cx="9639888" cy="473087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92FC6C1-BE58-C7EA-AB57-56C70CCEF736}"/>
                </a:ext>
              </a:extLst>
            </p:cNvPr>
            <p:cNvSpPr/>
            <p:nvPr/>
          </p:nvSpPr>
          <p:spPr>
            <a:xfrm>
              <a:off x="2057445" y="1304135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Preprocessing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EC0E5AE-20CF-1B73-2987-03960D87BAAC}"/>
                </a:ext>
              </a:extLst>
            </p:cNvPr>
            <p:cNvSpPr/>
            <p:nvPr/>
          </p:nvSpPr>
          <p:spPr>
            <a:xfrm>
              <a:off x="2946013" y="1304135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Data cleaning and missing value correction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Handling class imbalance using SMOTE (Synthetic Minority Oversampling Technique)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4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Implementation of PCA (Principal Component Analysis) for Feature Engineering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4D5EA4-6FC2-CA34-B5D6-47B940BA9E17}"/>
                </a:ext>
              </a:extLst>
            </p:cNvPr>
            <p:cNvSpPr/>
            <p:nvPr/>
          </p:nvSpPr>
          <p:spPr>
            <a:xfrm>
              <a:off x="2057445" y="2444995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1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Modeling</a:t>
              </a: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7C50E3-BBF1-FEA4-D7B8-C400051D7E27}"/>
                </a:ext>
              </a:extLst>
            </p:cNvPr>
            <p:cNvSpPr/>
            <p:nvPr/>
          </p:nvSpPr>
          <p:spPr>
            <a:xfrm>
              <a:off x="2946013" y="2444995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Train Random Forest classifier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Train Deep Learning Model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Sensor data used as input to predict failures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49706BA-375C-599A-56DA-AD870CF1B9EB}"/>
                </a:ext>
              </a:extLst>
            </p:cNvPr>
            <p:cNvSpPr/>
            <p:nvPr/>
          </p:nvSpPr>
          <p:spPr>
            <a:xfrm>
              <a:off x="2057445" y="3585856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1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Validation</a:t>
              </a: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0F87AFF-9D23-83B3-CB4D-83593D3E2AB8}"/>
                </a:ext>
              </a:extLst>
            </p:cNvPr>
            <p:cNvSpPr/>
            <p:nvPr/>
          </p:nvSpPr>
          <p:spPr>
            <a:xfrm>
              <a:off x="2946013" y="3585856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Evaluate model performance using Accuracy, Precision, Recall, F1-score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Confusion matrix shows which failures are predicted well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900CAD-6F64-0DE7-7C26-B2279F553567}"/>
                </a:ext>
              </a:extLst>
            </p:cNvPr>
            <p:cNvSpPr/>
            <p:nvPr/>
          </p:nvSpPr>
          <p:spPr>
            <a:xfrm>
              <a:off x="2057445" y="4726707"/>
              <a:ext cx="888577" cy="130830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156726"/>
                <a:gd name="f7" fmla="val 809708"/>
                <a:gd name="f8" fmla="val 1156725"/>
                <a:gd name="f9" fmla="val 526310"/>
                <a:gd name="f10" fmla="val 578363"/>
                <a:gd name="f11" fmla="val 1"/>
                <a:gd name="f12" fmla="val 283398"/>
                <a:gd name="f13" fmla="+- 0 0 -90"/>
                <a:gd name="f14" fmla="*/ f3 1 1156726"/>
                <a:gd name="f15" fmla="*/ f4 1 809708"/>
                <a:gd name="f16" fmla="+- f7 0 f5"/>
                <a:gd name="f17" fmla="+- f6 0 f5"/>
                <a:gd name="f18" fmla="*/ f13 f0 1"/>
                <a:gd name="f19" fmla="*/ f17 1 1156726"/>
                <a:gd name="f20" fmla="*/ f16 1 809708"/>
                <a:gd name="f21" fmla="*/ 0 f17 1"/>
                <a:gd name="f22" fmla="*/ 0 f16 1"/>
                <a:gd name="f23" fmla="*/ 751872 f17 1"/>
                <a:gd name="f24" fmla="*/ 1156726 f17 1"/>
                <a:gd name="f25" fmla="*/ 404854 f16 1"/>
                <a:gd name="f26" fmla="*/ 809708 f16 1"/>
                <a:gd name="f27" fmla="*/ 404854 f17 1"/>
                <a:gd name="f28" fmla="*/ f18 1 f2"/>
                <a:gd name="f29" fmla="*/ f21 1 1156726"/>
                <a:gd name="f30" fmla="*/ f22 1 809708"/>
                <a:gd name="f31" fmla="*/ f23 1 1156726"/>
                <a:gd name="f32" fmla="*/ f24 1 1156726"/>
                <a:gd name="f33" fmla="*/ f25 1 809708"/>
                <a:gd name="f34" fmla="*/ f26 1 809708"/>
                <a:gd name="f35" fmla="*/ f27 1 1156726"/>
                <a:gd name="f36" fmla="*/ f5 1 f19"/>
                <a:gd name="f37" fmla="*/ f6 1 f19"/>
                <a:gd name="f38" fmla="*/ f5 1 f20"/>
                <a:gd name="f39" fmla="*/ f7 1 f20"/>
                <a:gd name="f40" fmla="+- f28 0 f1"/>
                <a:gd name="f41" fmla="*/ f29 1 f19"/>
                <a:gd name="f42" fmla="*/ f30 1 f20"/>
                <a:gd name="f43" fmla="*/ f31 1 f19"/>
                <a:gd name="f44" fmla="*/ f32 1 f19"/>
                <a:gd name="f45" fmla="*/ f33 1 f20"/>
                <a:gd name="f46" fmla="*/ f34 1 f20"/>
                <a:gd name="f47" fmla="*/ f35 1 f19"/>
                <a:gd name="f48" fmla="*/ f36 f14 1"/>
                <a:gd name="f49" fmla="*/ f37 f14 1"/>
                <a:gd name="f50" fmla="*/ f39 f15 1"/>
                <a:gd name="f51" fmla="*/ f38 f15 1"/>
                <a:gd name="f52" fmla="*/ f41 f14 1"/>
                <a:gd name="f53" fmla="*/ f42 f15 1"/>
                <a:gd name="f54" fmla="*/ f43 f14 1"/>
                <a:gd name="f55" fmla="*/ f44 f14 1"/>
                <a:gd name="f56" fmla="*/ f45 f15 1"/>
                <a:gd name="f57" fmla="*/ f46 f15 1"/>
                <a:gd name="f58" fmla="*/ f47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0">
                  <a:pos x="f52" y="f53"/>
                </a:cxn>
                <a:cxn ang="f40">
                  <a:pos x="f54" y="f53"/>
                </a:cxn>
                <a:cxn ang="f40">
                  <a:pos x="f55" y="f56"/>
                </a:cxn>
                <a:cxn ang="f40">
                  <a:pos x="f54" y="f57"/>
                </a:cxn>
                <a:cxn ang="f40">
                  <a:pos x="f52" y="f57"/>
                </a:cxn>
                <a:cxn ang="f40">
                  <a:pos x="f58" y="f56"/>
                </a:cxn>
                <a:cxn ang="f40">
                  <a:pos x="f52" y="f53"/>
                </a:cxn>
              </a:cxnLst>
              <a:rect l="f48" t="f51" r="f49" b="f50"/>
              <a:pathLst>
                <a:path w="1156726" h="809708">
                  <a:moveTo>
                    <a:pt x="f8" y="f5"/>
                  </a:moveTo>
                  <a:lnTo>
                    <a:pt x="f8" y="f9"/>
                  </a:lnTo>
                  <a:lnTo>
                    <a:pt x="f10" y="f7"/>
                  </a:lnTo>
                  <a:lnTo>
                    <a:pt x="f11" y="f9"/>
                  </a:lnTo>
                  <a:lnTo>
                    <a:pt x="f11" y="f5"/>
                  </a:lnTo>
                  <a:lnTo>
                    <a:pt x="f10" y="f12"/>
                  </a:lnTo>
                  <a:lnTo>
                    <a:pt x="f8" y="f5"/>
                  </a:lnTo>
                  <a:close/>
                </a:path>
              </a:pathLst>
            </a:custGeom>
            <a:solidFill>
              <a:srgbClr val="4472C4"/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5715" tIns="410565" rIns="5715" bIns="410565" anchor="ctr" anchorCtr="1" compatLnSpc="1">
              <a:noAutofit/>
            </a:bodyPr>
            <a:lstStyle/>
            <a:p>
              <a:pPr marL="0" marR="0" lvl="0" indent="0" algn="ctr" defTabSz="400050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4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1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Deployment</a:t>
              </a: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ED8D05-A508-0521-8C75-52E7535E245B}"/>
                </a:ext>
              </a:extLst>
            </p:cNvPr>
            <p:cNvSpPr/>
            <p:nvPr/>
          </p:nvSpPr>
          <p:spPr>
            <a:xfrm>
              <a:off x="2946013" y="4726707"/>
              <a:ext cx="8751320" cy="850401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751871"/>
                <a:gd name="f7" fmla="val 7974606"/>
                <a:gd name="f8" fmla="val 1329128"/>
                <a:gd name="f9" fmla="val 6645478"/>
                <a:gd name="f10" fmla="val 7379532"/>
                <a:gd name="f11" fmla="val 746581"/>
                <a:gd name="f12" fmla="val 7974601"/>
                <a:gd name="f13" fmla="val 740056"/>
                <a:gd name="f14" fmla="val 5"/>
                <a:gd name="f15" fmla="val 595074"/>
                <a:gd name="f16" fmla="+- 0 0 -90"/>
                <a:gd name="f17" fmla="*/ f3 1 751871"/>
                <a:gd name="f18" fmla="*/ f4 1 7974606"/>
                <a:gd name="f19" fmla="+- f7 0 f5"/>
                <a:gd name="f20" fmla="+- f6 0 f5"/>
                <a:gd name="f21" fmla="*/ f16 f0 1"/>
                <a:gd name="f22" fmla="*/ f20 1 751871"/>
                <a:gd name="f23" fmla="*/ f19 1 7974606"/>
                <a:gd name="f24" fmla="*/ 125314 f20 1"/>
                <a:gd name="f25" fmla="*/ 0 f19 1"/>
                <a:gd name="f26" fmla="*/ 626557 f20 1"/>
                <a:gd name="f27" fmla="*/ 751871 f20 1"/>
                <a:gd name="f28" fmla="*/ 125314 f19 1"/>
                <a:gd name="f29" fmla="*/ 7974606 f19 1"/>
                <a:gd name="f30" fmla="*/ 0 f20 1"/>
                <a:gd name="f31" fmla="*/ f21 1 f2"/>
                <a:gd name="f32" fmla="*/ f24 1 751871"/>
                <a:gd name="f33" fmla="*/ f25 1 7974606"/>
                <a:gd name="f34" fmla="*/ f26 1 751871"/>
                <a:gd name="f35" fmla="*/ f27 1 751871"/>
                <a:gd name="f36" fmla="*/ f28 1 7974606"/>
                <a:gd name="f37" fmla="*/ f29 1 7974606"/>
                <a:gd name="f38" fmla="*/ f30 1 751871"/>
                <a:gd name="f39" fmla="*/ f5 1 f22"/>
                <a:gd name="f40" fmla="*/ f6 1 f22"/>
                <a:gd name="f41" fmla="*/ f5 1 f23"/>
                <a:gd name="f42" fmla="*/ f7 1 f23"/>
                <a:gd name="f43" fmla="+- f31 0 f1"/>
                <a:gd name="f44" fmla="*/ f32 1 f22"/>
                <a:gd name="f45" fmla="*/ f33 1 f23"/>
                <a:gd name="f46" fmla="*/ f34 1 f22"/>
                <a:gd name="f47" fmla="*/ f35 1 f22"/>
                <a:gd name="f48" fmla="*/ f36 1 f23"/>
                <a:gd name="f49" fmla="*/ f37 1 f23"/>
                <a:gd name="f50" fmla="*/ f38 1 f22"/>
                <a:gd name="f51" fmla="*/ f39 f17 1"/>
                <a:gd name="f52" fmla="*/ f40 f17 1"/>
                <a:gd name="f53" fmla="*/ f42 f18 1"/>
                <a:gd name="f54" fmla="*/ f41 f18 1"/>
                <a:gd name="f55" fmla="*/ f44 f17 1"/>
                <a:gd name="f56" fmla="*/ f45 f18 1"/>
                <a:gd name="f57" fmla="*/ f46 f17 1"/>
                <a:gd name="f58" fmla="*/ f47 f17 1"/>
                <a:gd name="f59" fmla="*/ f48 f18 1"/>
                <a:gd name="f60" fmla="*/ f49 f18 1"/>
                <a:gd name="f61" fmla="*/ f50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43">
                  <a:pos x="f55" y="f56"/>
                </a:cxn>
                <a:cxn ang="f43">
                  <a:pos x="f57" y="f56"/>
                </a:cxn>
                <a:cxn ang="f43">
                  <a:pos x="f58" y="f59"/>
                </a:cxn>
                <a:cxn ang="f43">
                  <a:pos x="f58" y="f60"/>
                </a:cxn>
                <a:cxn ang="f43">
                  <a:pos x="f58" y="f60"/>
                </a:cxn>
                <a:cxn ang="f43">
                  <a:pos x="f61" y="f60"/>
                </a:cxn>
                <a:cxn ang="f43">
                  <a:pos x="f61" y="f60"/>
                </a:cxn>
                <a:cxn ang="f43">
                  <a:pos x="f61" y="f59"/>
                </a:cxn>
                <a:cxn ang="f43">
                  <a:pos x="f55" y="f56"/>
                </a:cxn>
              </a:cxnLst>
              <a:rect l="f51" t="f54" r="f52" b="f53"/>
              <a:pathLst>
                <a:path w="751871" h="7974606">
                  <a:moveTo>
                    <a:pt x="f6" y="f8"/>
                  </a:moveTo>
                  <a:lnTo>
                    <a:pt x="f6" y="f9"/>
                  </a:lnTo>
                  <a:cubicBezTo>
                    <a:pt x="f6" y="f10"/>
                    <a:pt x="f11" y="f12"/>
                    <a:pt x="f13" y="f12"/>
                  </a:cubicBezTo>
                  <a:lnTo>
                    <a:pt x="f5" y="f12"/>
                  </a:lnTo>
                  <a:lnTo>
                    <a:pt x="f5" y="f12"/>
                  </a:lnTo>
                  <a:lnTo>
                    <a:pt x="f5" y="f14"/>
                  </a:lnTo>
                  <a:lnTo>
                    <a:pt x="f5" y="f14"/>
                  </a:lnTo>
                  <a:lnTo>
                    <a:pt x="f13" y="f14"/>
                  </a:lnTo>
                  <a:cubicBezTo>
                    <a:pt x="f11" y="f14"/>
                    <a:pt x="f6" y="f15"/>
                    <a:pt x="f6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4472C4"/>
              </a:solidFill>
              <a:prstDash val="solid"/>
              <a:miter/>
            </a:ln>
          </p:spPr>
          <p:txBody>
            <a:bodyPr vert="horz" wrap="square" lIns="99569" tIns="45591" rIns="45591" bIns="45591" anchor="ctr" anchorCtr="0" compatLnSpc="1">
              <a:noAutofit/>
            </a:bodyPr>
            <a:lstStyle/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Predictions</a:t>
              </a: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 displayed on a Streamlit dashboard</a:t>
              </a:r>
            </a:p>
            <a:p>
              <a:pPr marL="114300" marR="0" lvl="1" indent="-114300" algn="l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tr-TR" sz="1600" b="0" i="0" u="none" strike="noStrike" kern="1200" cap="none" spc="0" baseline="0">
                  <a:solidFill>
                    <a:srgbClr val="002060"/>
                  </a:solidFill>
                  <a:uFillTx/>
                  <a:latin typeface="Verdana"/>
                  <a:ea typeface="Verdana"/>
                </a:rPr>
                <a:t>User-friendly and easy to monitor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4A454-82D6-BDFD-9812-3872FA20E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5C876F24-D882-4DF5-2F53-159346A31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39C481-A773-2567-38AA-4465127A4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8C8D7B1-9C0B-FA6B-B09D-E6AE64DC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12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555439-F0B4-05A8-FDBB-11B4340CA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Results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74A27593-D602-BD15-AC13-0C2AAD8B187A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ANN shows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stronger overall performance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improving the accuracy from 95.9% to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97.4%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.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The ANN drastically improves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recall on the Failure class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which is the single most important metric in predictive maintenance.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RF remains strong and interpretable, but ANN captures deeper nonlinear patterns, especially in rare failure conditions.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ANN provides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better balance between both classes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resulting in higher macro and weighted F1-scores.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AEB45E-15D6-FA16-D2F8-EFD0F5EAB6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3" b="2905"/>
          <a:stretch>
            <a:fillRect/>
          </a:stretch>
        </p:blipFill>
        <p:spPr>
          <a:xfrm>
            <a:off x="672170" y="3667782"/>
            <a:ext cx="4206043" cy="1587522"/>
          </a:xfrm>
          <a:prstGeom prst="rect">
            <a:avLst/>
          </a:prstGeom>
        </p:spPr>
      </p:pic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1CEFE2D2-DED2-C3D6-AA9C-C9451F5CA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7" b="1971"/>
          <a:stretch>
            <a:fillRect/>
          </a:stretch>
        </p:blipFill>
        <p:spPr>
          <a:xfrm>
            <a:off x="6094030" y="3666633"/>
            <a:ext cx="4124001" cy="158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378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4">
            <a:extLst>
              <a:ext uri="{FF2B5EF4-FFF2-40B4-BE49-F238E27FC236}">
                <a16:creationId xmlns:a16="http://schemas.microsoft.com/office/drawing/2014/main" id="{BA69DAF4-FA3E-8171-9084-B0E334BD02C0}"/>
              </a:ext>
            </a:extLst>
          </p:cNvPr>
          <p:cNvSpPr txBox="1"/>
          <p:nvPr/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6A5D665-C1EC-4E15-AF51-4257C61D7283}" type="datetime1">
              <a:rPr lang="de-DE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rPr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21.12.2025</a:t>
            </a:fld>
            <a:endParaRPr lang="de-DE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3" name="Foliennummernplatzhalter 6">
            <a:extLst>
              <a:ext uri="{FF2B5EF4-FFF2-40B4-BE49-F238E27FC236}">
                <a16:creationId xmlns:a16="http://schemas.microsoft.com/office/drawing/2014/main" id="{0ABA94DD-8E6F-83FD-F7B3-97B391586847}"/>
              </a:ext>
            </a:extLst>
          </p:cNvPr>
          <p:cNvSpPr txBox="1"/>
          <p:nvPr/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C9FE361-61B3-4DBA-97C4-2BCB9745101E}" type="slidenum">
              <a:t>13</a:t>
            </a:fld>
            <a:endParaRPr lang="de-DE" sz="1200" b="0" i="0" u="none" strike="noStrike" kern="1200" cap="none" spc="0" baseline="0">
              <a:solidFill>
                <a:srgbClr val="898989"/>
              </a:solidFill>
              <a:uFillTx/>
              <a:latin typeface="Calibri"/>
            </a:endParaRPr>
          </a:p>
        </p:txBody>
      </p:sp>
      <p:sp>
        <p:nvSpPr>
          <p:cNvPr id="4" name="Titel 9">
            <a:extLst>
              <a:ext uri="{FF2B5EF4-FFF2-40B4-BE49-F238E27FC236}">
                <a16:creationId xmlns:a16="http://schemas.microsoft.com/office/drawing/2014/main" id="{B685CD29-6DB5-4EF6-7C9E-76DDB9A82BA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/>
            <a:r>
              <a:rPr lang="de-DE" sz="2400">
                <a:latin typeface="Verdana"/>
                <a:ea typeface="Verdana"/>
              </a:rPr>
              <a:t>Performance Comparison: Our Results vs. Literature</a:t>
            </a:r>
            <a:endParaRPr lang="en-US"/>
          </a:p>
        </p:txBody>
      </p:sp>
      <p:sp>
        <p:nvSpPr>
          <p:cNvPr id="5" name="Text Placeholder 10">
            <a:extLst>
              <a:ext uri="{FF2B5EF4-FFF2-40B4-BE49-F238E27FC236}">
                <a16:creationId xmlns:a16="http://schemas.microsoft.com/office/drawing/2014/main" id="{385FB8EC-A2B4-3DE2-9CAF-3AB4B684EE7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23835" y="1065083"/>
            <a:ext cx="11889065" cy="54456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0" indent="0">
              <a:buNone/>
            </a:pPr>
            <a:r>
              <a:rPr lang="en-US" sz="1800" b="1">
                <a:solidFill>
                  <a:srgbClr val="002060"/>
                </a:solidFill>
                <a:latin typeface="Verdana"/>
                <a:ea typeface="Verdana"/>
              </a:rPr>
              <a:t>[1] Carvalho et al., 2019 Systematic Review of ML in </a:t>
            </a:r>
            <a:r>
              <a:rPr lang="en-US" sz="1800" b="1" err="1">
                <a:solidFill>
                  <a:srgbClr val="002060"/>
                </a:solidFill>
                <a:latin typeface="Verdana"/>
                <a:ea typeface="Verdana"/>
              </a:rPr>
              <a:t>PdM</a:t>
            </a:r>
            <a:endParaRPr lang="en-US" sz="1800" b="1">
              <a:solidFill>
                <a:srgbClr val="002060"/>
              </a:solidFill>
              <a:latin typeface="Verdana"/>
              <a:ea typeface="Verdana"/>
            </a:endParaRPr>
          </a:p>
          <a:p>
            <a:r>
              <a:rPr lang="en-US" sz="16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Random Forest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Accuracy: 92%</a:t>
            </a:r>
            <a:endParaRPr lang="en-US"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2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Recall: 89%</a:t>
            </a:r>
          </a:p>
          <a:p>
            <a:pPr marL="0" lvl="0" indent="0">
              <a:buNone/>
            </a:pP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[2]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Sujata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Butte,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Prashanth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A. R., and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Sainath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Patil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, 2018 —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Machine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learning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based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predictive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maintenance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strategy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: a super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learning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approach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with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deep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neural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networks. </a:t>
            </a:r>
          </a:p>
          <a:p>
            <a:r>
              <a:rPr lang="de-DE" sz="16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Deep Learning Architecture</a:t>
            </a:r>
            <a:endParaRPr lang="en-US" sz="1600">
              <a:ea typeface="Calibri"/>
              <a:cs typeface="Calibri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Accuracy: 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  <a:cs typeface="+mn-lt"/>
              </a:rPr>
              <a:t>94.5%</a:t>
            </a:r>
            <a:endParaRPr lang="en-US" sz="1200">
              <a:solidFill>
                <a:srgbClr val="000000"/>
              </a:solidFill>
              <a:latin typeface="Verdana"/>
              <a:ea typeface="Verdana"/>
              <a:cs typeface="+mn-l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2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Recall: 91.5%</a:t>
            </a:r>
            <a:endParaRPr lang="de-DE"/>
          </a:p>
          <a:p>
            <a:pPr lvl="0"/>
            <a:endParaRPr lang="de-DE" sz="1400">
              <a:solidFill>
                <a:srgbClr val="002060"/>
              </a:solidFill>
              <a:latin typeface="Verdana"/>
              <a:ea typeface="Verdana"/>
              <a:cs typeface="Calibri"/>
            </a:endParaRPr>
          </a:p>
          <a:p>
            <a:pPr marL="0" lvl="0" indent="0">
              <a:buNone/>
            </a:pP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Our</a:t>
            </a:r>
            <a:r>
              <a:rPr lang="de-DE" sz="1800" b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 </a:t>
            </a:r>
            <a:r>
              <a:rPr lang="de-DE" sz="1800" b="1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Results</a:t>
            </a:r>
            <a:endParaRPr lang="de-DE" sz="1800" b="1">
              <a:solidFill>
                <a:srgbClr val="002060"/>
              </a:solidFill>
              <a:latin typeface="Verdana"/>
              <a:ea typeface="Verdana"/>
              <a:cs typeface="Calibri"/>
            </a:endParaRPr>
          </a:p>
          <a:p>
            <a:pPr>
              <a:buFont typeface="Arial"/>
            </a:pPr>
            <a:r>
              <a:rPr lang="de-DE" sz="14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Random Forest </a:t>
            </a:r>
          </a:p>
          <a:p>
            <a:pPr lvl="1">
              <a:buFont typeface="Courier New"/>
              <a:buChar char="o"/>
            </a:pPr>
            <a:r>
              <a:rPr lang="de-DE" sz="1200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Accuracy</a:t>
            </a:r>
            <a:r>
              <a:rPr lang="de-DE" sz="1200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: 95.89%</a:t>
            </a:r>
          </a:p>
          <a:p>
            <a:pPr lvl="1">
              <a:buFont typeface="Courier New"/>
              <a:buChar char="o"/>
            </a:pPr>
            <a:r>
              <a:rPr lang="de-DE" sz="1200">
                <a:solidFill>
                  <a:srgbClr val="002060"/>
                </a:solidFill>
                <a:latin typeface="Verdana"/>
                <a:ea typeface="Verdana"/>
                <a:cs typeface="Calibri" panose="020F0502020204030204"/>
              </a:rPr>
              <a:t>Recall: 93.4%</a:t>
            </a:r>
          </a:p>
          <a:p>
            <a:pPr>
              <a:buFont typeface="Arial"/>
            </a:pPr>
            <a:r>
              <a:rPr lang="de-DE" sz="14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Deep Learning Architecture</a:t>
            </a:r>
            <a:endParaRPr lang="en-US" sz="1400">
              <a:solidFill>
                <a:srgbClr val="000000"/>
              </a:solidFill>
              <a:latin typeface="Verdana"/>
              <a:ea typeface="Verdana"/>
              <a:cs typeface="Calibri"/>
            </a:endParaRPr>
          </a:p>
          <a:p>
            <a:pPr lvl="1">
              <a:buFont typeface="Courier New"/>
              <a:buChar char="o"/>
            </a:pPr>
            <a:r>
              <a:rPr lang="de-DE" sz="1200" err="1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Accuracy</a:t>
            </a:r>
            <a:r>
              <a:rPr lang="de-DE" sz="12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: 97.39%</a:t>
            </a:r>
          </a:p>
          <a:p>
            <a:pPr lvl="1">
              <a:buFont typeface="Courier New"/>
              <a:buChar char="o"/>
            </a:pPr>
            <a:r>
              <a:rPr lang="de-DE" sz="1200">
                <a:solidFill>
                  <a:srgbClr val="002060"/>
                </a:solidFill>
                <a:latin typeface="Verdana"/>
                <a:ea typeface="Verdana"/>
                <a:cs typeface="Calibri"/>
              </a:rPr>
              <a:t>Recall: 97.0%</a:t>
            </a:r>
          </a:p>
          <a:p>
            <a:pPr marL="0" lvl="0" indent="0">
              <a:buNone/>
            </a:pPr>
            <a:endParaRPr lang="de-DE" sz="2000" b="1">
              <a:solidFill>
                <a:srgbClr val="002060"/>
              </a:solidFill>
              <a:latin typeface="Verdana"/>
              <a:ea typeface="Verdana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60F7-FEBE-DFFA-A311-173AD4564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56165C-D427-FE1A-D53D-00814D523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7A6CEBE-9E0C-A7C7-C568-E5160162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14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2EF81359-CFB3-53C5-05DC-D9BD0C369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Validation</a:t>
            </a:r>
            <a:endParaRPr lang="de-DE" sz="2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E2CF1F9-CF90-1003-E776-9104495096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Validation Approach</a:t>
            </a:r>
            <a:endParaRPr lang="en-US" sz="1600">
              <a:latin typeface="Verdana"/>
              <a:ea typeface="Verdana"/>
            </a:endParaRPr>
          </a:p>
          <a:p>
            <a:pPr>
              <a:buFont typeface="Arial"/>
              <a:buChar char="•"/>
            </a:pPr>
            <a:r>
              <a:rPr lang="en-US" sz="1600">
                <a:latin typeface="Verdana"/>
                <a:ea typeface="Verdana"/>
              </a:rPr>
              <a:t>Model inference evaluated on </a:t>
            </a:r>
            <a:r>
              <a:rPr lang="en-US" sz="1600" b="1">
                <a:latin typeface="Verdana"/>
                <a:ea typeface="Verdana"/>
              </a:rPr>
              <a:t>held-out test dataset</a:t>
            </a:r>
            <a:endParaRPr lang="en-US" sz="1600"/>
          </a:p>
          <a:p>
            <a:r>
              <a:rPr lang="en-US" sz="1600">
                <a:latin typeface="Verdana"/>
                <a:ea typeface="Verdana"/>
              </a:rPr>
              <a:t>Predictions compared with actual machine failure labels to verify performance</a:t>
            </a:r>
            <a:endParaRPr lang="en-US" sz="1600"/>
          </a:p>
          <a:p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r>
              <a:rPr lang="en-US" sz="1600" b="1">
                <a:latin typeface="Verdana"/>
                <a:ea typeface="Verdana"/>
              </a:rPr>
              <a:t>Why Validation is Reliable</a:t>
            </a:r>
            <a:endParaRPr lang="en-US" sz="1600"/>
          </a:p>
          <a:p>
            <a:r>
              <a:rPr lang="en-US" sz="1600">
                <a:latin typeface="Verdana"/>
                <a:ea typeface="Verdana"/>
              </a:rPr>
              <a:t>Test data </a:t>
            </a:r>
            <a:r>
              <a:rPr lang="en-US" sz="1600" b="1">
                <a:latin typeface="Verdana"/>
                <a:ea typeface="Verdana"/>
              </a:rPr>
              <a:t>not seen during training</a:t>
            </a:r>
            <a:r>
              <a:rPr lang="en-US" sz="1600">
                <a:latin typeface="Verdana"/>
                <a:ea typeface="Verdana"/>
              </a:rPr>
              <a:t>, ensuring unbiased assessment</a:t>
            </a:r>
            <a:endParaRPr lang="en-US" sz="1600"/>
          </a:p>
          <a:p>
            <a:r>
              <a:rPr lang="en-US" sz="1600">
                <a:latin typeface="Verdana"/>
                <a:ea typeface="Verdana"/>
              </a:rPr>
              <a:t>Performance metrics (accuracy, recall) demonstrate the model </a:t>
            </a:r>
            <a:r>
              <a:rPr lang="en-US" sz="1600" b="1">
                <a:latin typeface="Verdana"/>
                <a:ea typeface="Verdana"/>
              </a:rPr>
              <a:t>effectively detects failures</a:t>
            </a:r>
            <a:endParaRPr lang="en-US" sz="1600"/>
          </a:p>
          <a:p>
            <a:pPr>
              <a:buFont typeface="Arial"/>
              <a:buChar char="•"/>
            </a:pPr>
            <a:endParaRPr lang="en-US" sz="1400"/>
          </a:p>
        </p:txBody>
      </p:sp>
      <p:pic>
        <p:nvPicPr>
          <p:cNvPr id="3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4DAF9AFD-C291-CCC0-9454-5A710B55F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549" y="3431627"/>
            <a:ext cx="3188905" cy="266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16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235A4-1E5E-43DE-D6F7-655B7235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C1BCA4-5409-DEFC-F1F9-7B74F119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131FF6-8302-3AC0-ED1A-10CCCCCE9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15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1B8AB86E-AE63-2595-0AE2-526245E97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>
                <a:latin typeface="Verdana"/>
                <a:ea typeface="Verdana"/>
              </a:rPr>
              <a:t>Validation</a:t>
            </a:r>
            <a:endParaRPr lang="de-DE" sz="240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07D805E-87E6-4EE1-7B16-E0B617BF49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3838" y="1065087"/>
            <a:ext cx="11232902" cy="5466838"/>
          </a:xfrm>
        </p:spPr>
        <p:txBody>
          <a:bodyPr numCol="1" anchor="t">
            <a:normAutofit/>
          </a:bodyPr>
          <a:lstStyle/>
          <a:p>
            <a:pPr marL="0" indent="0">
              <a:buNone/>
            </a:pPr>
            <a:endParaRPr lang="en-US" sz="1400"/>
          </a:p>
          <a:p>
            <a:pPr>
              <a:buFont typeface="Arial"/>
              <a:buChar char="•"/>
            </a:pPr>
            <a:endParaRPr lang="en-US" sz="160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6DE004-D51A-3862-55F3-85BF7310F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2" y="1947845"/>
            <a:ext cx="11745311" cy="2962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79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CED7-F215-46DC-76CD-4398754E0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6FE5004A-F5DD-73E8-3960-EE553AC25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B10B93-085A-1C1C-2418-7D26158EF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160ED2C-508F-5F56-AC75-A7F1072E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16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F77232B-24D2-3558-93AD-99EDFDC66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Outcomes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ECF490FF-F8AF-37F0-97AB-943FF1207876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Implemented a data preprocessing and visualization pipeline to generate insights.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Trained and validated ANN-based predictive maintenance model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Inference pipeline implemented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(preprocessing + prediction)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Interactive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Streamlit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app for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real-time failure prediction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from sensor inputs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Created a reference predictive maintenance framework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that can be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adapted to different milling machines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by mapping corresponding sensor inputs.</a:t>
            </a: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33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3509C1D-34E7-09FE-33A5-88CBBFD68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6F0A1CF-F6E0-F4D4-55DD-10634E2E1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61ABC4-1C42-17F1-838E-2369FDF51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7272DD-1232-A1AF-2AF3-9D87DF38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17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3BBE5540-D239-2DEF-385A-AC0CAAB96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Initial Data Exploration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7432153-343D-97B4-6FE2-6C5863427EBF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19489" cy="45352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Checked for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missing values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→ none found.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Checked for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duplicates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→ none found.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Identified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6 numeric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and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3 categorical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features.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Converted numeric columns to </a:t>
            </a:r>
            <a:r>
              <a:rPr lang="en-US" sz="1600">
                <a:solidFill>
                  <a:srgbClr val="002060"/>
                </a:solidFill>
                <a:latin typeface="Consolas"/>
                <a:ea typeface="Verdana"/>
              </a:rPr>
              <a:t>float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type for consistency.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Removed 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UDI 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and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Product ID 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 b="1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Found 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labeling inconsistencies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:</a:t>
            </a:r>
          </a:p>
          <a:p>
            <a:pPr lvl="2">
              <a:buFont typeface="Arial" panose="05000000000000000000" pitchFamily="2" charset="2"/>
              <a:buChar char="•"/>
            </a:pP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Random Failures (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RNF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) were not marked as machine failures.</a:t>
            </a:r>
          </a:p>
          <a:p>
            <a:pPr lvl="2">
              <a:buFont typeface="Arial" panose="05000000000000000000" pitchFamily="2" charset="2"/>
              <a:buChar char="•"/>
            </a:pPr>
            <a:endParaRPr lang="en-US" sz="1400">
              <a:solidFill>
                <a:srgbClr val="002060"/>
              </a:solidFill>
              <a:latin typeface="Verdana"/>
              <a:ea typeface="Verdana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Corrected target values to set 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Target = 1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 for 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RNF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.</a:t>
            </a:r>
          </a:p>
          <a:p>
            <a:pPr lvl="2">
              <a:buFont typeface="Arial" panose="05000000000000000000" pitchFamily="2" charset="2"/>
              <a:buChar char="•"/>
            </a:pPr>
            <a:endParaRPr lang="en-US" sz="1400">
              <a:solidFill>
                <a:srgbClr val="002060"/>
              </a:solidFill>
              <a:latin typeface="Verdana"/>
              <a:ea typeface="Verdana"/>
            </a:endParaRPr>
          </a:p>
          <a:p>
            <a:pPr lvl="2">
              <a:buFont typeface="Arial" panose="05000000000000000000" pitchFamily="2" charset="2"/>
              <a:buChar char="•"/>
            </a:pP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Removed </a:t>
            </a: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ambiguous records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 (9 rows) where </a:t>
            </a:r>
            <a:r>
              <a:rPr lang="en-US" sz="1400">
                <a:solidFill>
                  <a:srgbClr val="002060"/>
                </a:solidFill>
                <a:latin typeface="Consolas"/>
                <a:ea typeface="Verdana"/>
              </a:rPr>
              <a:t>Machine failure = 1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 but no specific failure cause was given.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2"/>
            <a:endParaRPr lang="en-US" sz="160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96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295B72-F677-B524-0DBF-95A43A28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CB83F29-6972-106D-3D95-79C3454F09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023F01-B296-C5C9-0F83-096B68CD7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7B96136-9593-4960-9F7A-639887A81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18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AEA6EFA-9B58-1928-88F4-B84C842B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Handling Class Imbalance (SMOTE)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53AA5879-6EEC-2B15-19B9-1CFE794ECA98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Only 3.57% of observations were machine failures.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Applied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SMOTE (Synthetic Minority Oversampling Technique)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: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Generated synthetic samples for minority failure modes.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Balanced data to ~75:25 ratio (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working:failure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).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Achieved uniform representation across all failure types.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9496EC2-2AB0-57F1-5F4D-D55AE5DD4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896" y="3335584"/>
            <a:ext cx="7704083" cy="2882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88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98B2998-79CA-7E81-8FA5-9F14E414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2EC62A3-CF3F-A6DD-F58B-CDCB50E3F4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00351B-D38E-8D4A-EA16-875B3B41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E3F6B48-DD27-95A4-CC10-2176E6875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19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CCF14A6-E31C-ABA5-F81F-421C8B12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</a:t>
            </a:r>
            <a:r>
              <a:rPr lang="de-DE" sz="2400" err="1">
                <a:latin typeface="Verdana"/>
                <a:ea typeface="Verdana"/>
              </a:rPr>
              <a:t>Principal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Component</a:t>
            </a:r>
            <a:r>
              <a:rPr lang="de-DE" sz="2400">
                <a:latin typeface="Verdana"/>
                <a:ea typeface="Verdana"/>
              </a:rPr>
              <a:t> Analysis</a:t>
            </a:r>
            <a:endParaRPr lang="en-US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6B378128-E84F-577D-95C4-0DF630B4E2C2}"/>
              </a:ext>
            </a:extLst>
          </p:cNvPr>
          <p:cNvSpPr txBox="1">
            <a:spLocks/>
          </p:cNvSpPr>
          <p:nvPr/>
        </p:nvSpPr>
        <p:spPr>
          <a:xfrm>
            <a:off x="518009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Applied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Principal Component Analysis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(PCA) on numeric features.</a:t>
            </a:r>
            <a:endParaRPr lang="en-US" sz="1600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Top 3 PCs explain most of the variance.</a:t>
            </a:r>
            <a:endParaRPr lang="en-US" sz="1600" b="1">
              <a:solidFill>
                <a:srgbClr val="002060"/>
              </a:solidFill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Interpretation: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b="1">
                <a:solidFill>
                  <a:srgbClr val="002060"/>
                </a:solidFill>
                <a:latin typeface="Verdana"/>
                <a:ea typeface="Verdana"/>
              </a:rPr>
              <a:t>PC1 → 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</a:rPr>
              <a:t>closely related to the two temperature features</a:t>
            </a:r>
            <a:endParaRPr lang="en-US" b="1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b="1">
                <a:solidFill>
                  <a:srgbClr val="002060"/>
                </a:solidFill>
                <a:latin typeface="Verdana"/>
                <a:ea typeface="Verdana"/>
              </a:rPr>
              <a:t>PC2 → 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</a:rPr>
              <a:t>can be identified with the machine power, which is the product of Rotational Speed and Torque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200" b="1">
                <a:solidFill>
                  <a:srgbClr val="002060"/>
                </a:solidFill>
                <a:latin typeface="Verdana"/>
                <a:ea typeface="Verdana"/>
              </a:rPr>
              <a:t>PC3 → </a:t>
            </a:r>
            <a:r>
              <a:rPr lang="en-US" sz="1200">
                <a:solidFill>
                  <a:srgbClr val="002060"/>
                </a:solidFill>
                <a:latin typeface="Verdana"/>
                <a:ea typeface="Verdana"/>
              </a:rPr>
              <a:t>Tool Wear</a:t>
            </a: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1754C3-8E10-7616-59E0-D67A83C29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97" y="3331924"/>
            <a:ext cx="7698829" cy="281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333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8A9A583-8B09-12FD-7CF9-21E9B4D4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6FBA000-EBBA-B921-48B1-E50B51250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225B9D-3078-EBA8-5C11-F02C5DA3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20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22558853-3D99-E8E2-9177-624A44508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e-DE" sz="2400" err="1">
                <a:latin typeface="Verdana"/>
                <a:ea typeface="Verdana"/>
              </a:rPr>
              <a:t>Recap</a:t>
            </a:r>
            <a:r>
              <a:rPr lang="de-DE" sz="2400">
                <a:latin typeface="Verdana"/>
                <a:ea typeface="Verdana"/>
              </a:rPr>
              <a:t>: Baseline Model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EFEF259-33D0-A04E-F638-7753FED4DD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2037" y="1071385"/>
            <a:ext cx="10880241" cy="5466838"/>
          </a:xfrm>
        </p:spPr>
        <p:txBody>
          <a:bodyPr numCol="1" anchor="t">
            <a:normAutofit/>
          </a:bodyPr>
          <a:lstStyle/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4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Selected Random Forest as the </a:t>
            </a:r>
            <a:r>
              <a:rPr lang="en-US" sz="1600" b="1">
                <a:latin typeface="Verdana"/>
                <a:ea typeface="Verdana"/>
              </a:rPr>
              <a:t>baseline</a:t>
            </a:r>
            <a:r>
              <a:rPr lang="en-US" sz="1600">
                <a:latin typeface="Verdana"/>
                <a:ea typeface="Verdana"/>
              </a:rPr>
              <a:t> due to strong performance in </a:t>
            </a:r>
            <a:r>
              <a:rPr lang="en-US" sz="1600" err="1">
                <a:latin typeface="Verdana"/>
                <a:ea typeface="Verdana"/>
              </a:rPr>
              <a:t>PdM</a:t>
            </a:r>
            <a:r>
              <a:rPr lang="en-US" sz="1600">
                <a:latin typeface="Verdana"/>
                <a:ea typeface="Verdana"/>
              </a:rPr>
              <a:t> literature.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Robust to noise, handles mixed feature types, and offers interpretability.</a:t>
            </a:r>
            <a:endParaRPr lang="en-US" sz="1600">
              <a:solidFill>
                <a:srgbClr val="000000"/>
              </a:solidFill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>
              <a:buFont typeface="Wingdings"/>
              <a:buChar char="Ø"/>
            </a:pPr>
            <a:r>
              <a:rPr lang="en-US" sz="1600">
                <a:latin typeface="Verdana"/>
                <a:ea typeface="Verdana"/>
              </a:rPr>
              <a:t>Achieved </a:t>
            </a:r>
            <a:r>
              <a:rPr lang="en-US" sz="1600" b="1">
                <a:latin typeface="Verdana"/>
                <a:ea typeface="Verdana"/>
              </a:rPr>
              <a:t>95.9% accuracy</a:t>
            </a:r>
            <a:r>
              <a:rPr lang="en-US" sz="1600">
                <a:latin typeface="Verdana"/>
                <a:ea typeface="Verdana"/>
              </a:rPr>
              <a:t>, but the </a:t>
            </a:r>
            <a:r>
              <a:rPr lang="en-US" sz="1600" b="1">
                <a:latin typeface="Verdana"/>
                <a:ea typeface="Verdana"/>
              </a:rPr>
              <a:t>recall on the failure class was only ~88%</a:t>
            </a:r>
            <a:r>
              <a:rPr lang="en-US" sz="1600">
                <a:latin typeface="Verdana"/>
                <a:ea typeface="Verdana"/>
              </a:rPr>
              <a:t>, which is a significant drawback since missing failures is costly in predictive maintenance.</a:t>
            </a:r>
            <a:endParaRPr lang="en-US" sz="1600"/>
          </a:p>
          <a:p>
            <a:pPr>
              <a:buFont typeface="Wingdings"/>
              <a:buChar char="Ø"/>
            </a:pPr>
            <a:endParaRPr lang="en-US" sz="1600"/>
          </a:p>
          <a:p>
            <a:pPr>
              <a:buFont typeface="Wingdings"/>
              <a:buChar char="Ø"/>
            </a:pPr>
            <a:endParaRPr lang="en-US" sz="1600">
              <a:latin typeface="Verdana"/>
              <a:ea typeface="Verdana"/>
            </a:endParaRPr>
          </a:p>
          <a:p>
            <a:pPr marL="0" indent="0">
              <a:buNone/>
            </a:pPr>
            <a:endParaRPr lang="en-US" sz="1400" b="1"/>
          </a:p>
        </p:txBody>
      </p:sp>
    </p:spTree>
    <p:extLst>
      <p:ext uri="{BB962C8B-B14F-4D97-AF65-F5344CB8AC3E}">
        <p14:creationId xmlns:p14="http://schemas.microsoft.com/office/powerpoint/2010/main" val="1672072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5A7A815-69E7-C060-619F-324BF5B1B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3F0037-A7C6-81E1-CE05-8303190155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490C1D6-DCAF-37C8-6EDE-73CD44EBB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C51B65-C440-4DCE-AB71-6E7FE2C05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21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4835D88-4D4C-B2F7-B94E-AB74498A9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Motivation </a:t>
            </a:r>
            <a:r>
              <a:rPr lang="de-DE" sz="2400" err="1">
                <a:latin typeface="Verdana"/>
                <a:ea typeface="Verdana"/>
              </a:rPr>
              <a:t>for</a:t>
            </a:r>
            <a:r>
              <a:rPr lang="de-DE" sz="2400">
                <a:latin typeface="Verdana"/>
                <a:ea typeface="Verdana"/>
              </a:rPr>
              <a:t> Deep Learning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79DEAC0-E7D1-9CB4-BC9D-7F34698DA056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Literature shows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Neural Network Architectures excel in </a:t>
            </a:r>
            <a:r>
              <a:rPr lang="en-US" sz="1600" b="1" err="1">
                <a:solidFill>
                  <a:srgbClr val="002060"/>
                </a:solidFill>
                <a:latin typeface="Verdana"/>
                <a:ea typeface="Verdana"/>
              </a:rPr>
              <a:t>PdM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for modeling complex nonlinear patterns in sensor data.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Neural networks can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capture higher-order interactions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among temperature, torque, speed, and tool wear.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Neural Networks 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can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generalize better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under noise and extreme operating conditions typical in industrial data.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Provides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complementary modeling approach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to tree-based methods → allows benchmarking and performance comparison.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836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A91B289-65F1-B5CA-9296-D112E3AF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1D20CF4-0963-68B7-8AAA-01F5C2B7A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9658630-099E-E662-8965-428EEB22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699B28C-DD90-AB1D-0EBC-50B69083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22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CA9C65A-69ED-F1AF-A0C5-56A6F5F3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Initial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Architecture</a:t>
            </a:r>
            <a:endParaRPr lang="de-DE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AAE3A666-7757-CBD7-F2C3-D5EAAC9C0BC5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Implemented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feed-forward Artificial Neural Network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2 hidden layers: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128 → 64 neurons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ReLU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activations + Dropout(0.3)</a:t>
            </a:r>
            <a:endParaRPr lang="en-US" sz="1600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Softmax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output layer</a:t>
            </a:r>
            <a:endParaRPr lang="en-US" sz="1600"/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Trained with Adam +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EarlyStopping</a:t>
            </a:r>
            <a:endParaRPr lang="en-US" err="1"/>
          </a:p>
          <a:p>
            <a:pPr marL="457200" lvl="1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2"/>
            <a:endParaRPr lang="en-US" sz="14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  <p:pic>
        <p:nvPicPr>
          <p:cNvPr id="4" name="Picture 3" descr="A number of numbers on a white background&#10;&#10;AI-generated content may be incorrect.">
            <a:extLst>
              <a:ext uri="{FF2B5EF4-FFF2-40B4-BE49-F238E27FC236}">
                <a16:creationId xmlns:a16="http://schemas.microsoft.com/office/drawing/2014/main" id="{51002582-0136-1799-8B4C-6D23591F45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51" b="2400"/>
          <a:stretch>
            <a:fillRect/>
          </a:stretch>
        </p:blipFill>
        <p:spPr>
          <a:xfrm>
            <a:off x="3628749" y="4490132"/>
            <a:ext cx="4191404" cy="153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752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FE58975-AF60-EE5C-568E-957872C95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E8B16C67-CF90-49B6-C15F-B7531D37F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8C9F3C8-659E-3F9E-2562-098002DB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0969D4-3335-9FAD-A91C-89EBC519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23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776353F-BE06-78E1-119E-1E0902B22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Initial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Architecture (CODE)</a:t>
            </a:r>
            <a:endParaRPr lang="de-DE" sz="240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0EDA9AC-C8E6-CF1F-5829-A1CD96DEC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542" y="1076877"/>
            <a:ext cx="4496886" cy="510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7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515C40-28A9-52F1-17B1-CC829A0A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A02CD07-20A9-A0AA-628A-AC369BA0A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06096F8-1D2D-65B0-BB2D-AED00F39A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1F0BCD-105D-A082-5294-60606A23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24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2A1F21-3018-2F9C-B1DA-1609413B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Advanced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Model</a:t>
            </a:r>
            <a:endParaRPr lang="de-DE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803A09DC-FF6D-1624-475B-605EAF245782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Implemented a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deep feed-forward Artificial Neural Network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ANN Architecture: 5 hidden layers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with </a:t>
            </a: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512 → 256 → 128 → 64 → 32 neurons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, followed by a </a:t>
            </a:r>
            <a:r>
              <a:rPr lang="en-US" sz="1600" err="1">
                <a:solidFill>
                  <a:srgbClr val="002060"/>
                </a:solidFill>
                <a:latin typeface="Verdana"/>
                <a:ea typeface="Verdana"/>
              </a:rPr>
              <a:t>softmax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output layer.</a:t>
            </a: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Stacked dense layers with: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2"/>
            <a:r>
              <a:rPr lang="en-US" sz="1400" b="1" err="1">
                <a:solidFill>
                  <a:srgbClr val="002060"/>
                </a:solidFill>
                <a:latin typeface="Verdana"/>
                <a:ea typeface="Verdana"/>
              </a:rPr>
              <a:t>ReLU</a:t>
            </a:r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 activation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prevents vanishing gradients, fast and stable training.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Batch Normalization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stabilizes distributions across layers, speeds convergence.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Dropout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reduces co-adaptation, improves generalization.</a:t>
            </a:r>
            <a:endParaRPr lang="en-US" sz="1400">
              <a:solidFill>
                <a:srgbClr val="002060"/>
              </a:solidFill>
            </a:endParaRPr>
          </a:p>
          <a:p>
            <a:pPr lvl="2"/>
            <a:r>
              <a:rPr lang="en-US" sz="1400" b="1">
                <a:solidFill>
                  <a:srgbClr val="002060"/>
                </a:solidFill>
                <a:latin typeface="Verdana"/>
                <a:ea typeface="Verdana"/>
              </a:rPr>
              <a:t>L2 weight regularization</a:t>
            </a:r>
            <a:r>
              <a:rPr lang="en-US" sz="1400">
                <a:solidFill>
                  <a:srgbClr val="002060"/>
                </a:solidFill>
                <a:latin typeface="Verdana"/>
                <a:ea typeface="Verdana"/>
              </a:rPr>
              <a:t> → penalizes overly large weights, controls model complexity.</a:t>
            </a:r>
            <a:endParaRPr lang="en-US">
              <a:solidFill>
                <a:srgbClr val="002060"/>
              </a:solidFill>
            </a:endParaRPr>
          </a:p>
          <a:p>
            <a:pPr lvl="2"/>
            <a:endParaRPr lang="en-US" sz="14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1926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BF6D19-8290-5710-BD62-93773958B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A433C1D-D078-9460-FFFF-A12926C16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F8B8E5C-254E-B212-64E0-6958DDBE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F23B2E-5F66-F73E-A2A8-AB1CC7CE5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25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21935E0-CB2C-CF12-F4E0-ADC0488C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 err="1">
                <a:latin typeface="Verdana"/>
                <a:ea typeface="Verdana"/>
              </a:rPr>
              <a:t>Advanced</a:t>
            </a:r>
            <a:r>
              <a:rPr lang="de-DE" sz="2400">
                <a:latin typeface="Verdana"/>
                <a:ea typeface="Verdana"/>
              </a:rPr>
              <a:t> </a:t>
            </a:r>
            <a:r>
              <a:rPr lang="de-DE" sz="2400" err="1">
                <a:latin typeface="Verdana"/>
                <a:ea typeface="Verdana"/>
              </a:rPr>
              <a:t>Neural</a:t>
            </a:r>
            <a:r>
              <a:rPr lang="de-DE" sz="2400">
                <a:latin typeface="Verdana"/>
                <a:ea typeface="Verdana"/>
              </a:rPr>
              <a:t> Network Architecture (CODE)</a:t>
            </a:r>
            <a:endParaRPr lang="de-DE" sz="2400"/>
          </a:p>
        </p:txBody>
      </p: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414657F-27F7-2E68-9362-AAFBD9C4C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842" y="919437"/>
            <a:ext cx="5939177" cy="523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93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0D097C8-93F0-D31A-B95C-655539162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C3D7002-0C86-8FC4-C52C-01D56474F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B2467D-3124-CF2C-D173-E7B6ADD15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A141A9-22C3-0721-9499-583265C0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26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E3C8F0C7-C7AB-2FEC-2631-4FA4F2C06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Training </a:t>
            </a:r>
            <a:r>
              <a:rPr lang="de-DE" sz="2400" err="1">
                <a:latin typeface="Verdana"/>
                <a:ea typeface="Verdana"/>
              </a:rPr>
              <a:t>Strategy</a:t>
            </a:r>
            <a:endParaRPr lang="de-DE" sz="2400" err="1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C20F8626-B688-2D77-1682-E75C7EAB7086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20B0604020202020204" pitchFamily="34" charset="0"/>
              <a:buChar char="Ø"/>
            </a:pPr>
            <a:endParaRPr lang="en-US" sz="1600" b="1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Adam optimizer: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adapts the learning rate automatically, helping the model learn steadily and efficiently.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Early Stopping: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stops training when validation performance no longer improves, preventing overfitting and keeping the best model.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Learning Rate Reduction: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lowers the learning rate when progress slows, allowing finer adjustments during later training stages.</a:t>
            </a: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Batch size (32):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balances training stability and computation speed.</a:t>
            </a:r>
          </a:p>
          <a:p>
            <a:pPr lvl="1">
              <a:buFont typeface="Wingdings" panose="020B0604020202020204" pitchFamily="34" charset="0"/>
              <a:buChar char="Ø"/>
            </a:pPr>
            <a:endParaRPr lang="en-US" sz="16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20B0604020202020204" pitchFamily="34" charset="0"/>
              <a:buChar char="Ø"/>
            </a:pPr>
            <a:r>
              <a:rPr lang="en-US" sz="1600" b="1">
                <a:solidFill>
                  <a:srgbClr val="002060"/>
                </a:solidFill>
                <a:latin typeface="Verdana"/>
                <a:ea typeface="Verdana"/>
              </a:rPr>
              <a:t>Epoch limit (200):</a:t>
            </a:r>
            <a:r>
              <a:rPr lang="en-US" sz="1600">
                <a:solidFill>
                  <a:srgbClr val="002060"/>
                </a:solidFill>
                <a:latin typeface="Verdana"/>
                <a:ea typeface="Verdana"/>
              </a:rPr>
              <a:t> high flexibility, but training usually stops earlier due to Early Stopping.</a:t>
            </a:r>
            <a:endParaRPr lang="en-US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600">
              <a:solidFill>
                <a:srgbClr val="002060"/>
              </a:solidFill>
            </a:endParaRPr>
          </a:p>
          <a:p>
            <a:pPr marL="457200" lvl="1" indent="0">
              <a:buNone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229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7D34997-6620-3F07-451D-E23587DA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11C82D09-5392-548A-B915-A78495253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/>
          </a:p>
          <a:p>
            <a:pPr lvl="2"/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EC5EC75-0B4A-DC86-D8E1-D8BB9F34F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61F0F-D1EF-4599-B4AA-4DA5E5DFEF80}" type="datetime1">
              <a:rPr lang="de-DE" smtClean="0"/>
              <a:t>21.12.2025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EDE91C-85D0-0295-CD79-085EBCF8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84321-03BC-4B89-A235-71C364322ED5}" type="slidenum">
              <a:rPr lang="de-DE" smtClean="0"/>
              <a:t>27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263438-DAC0-01A5-9E0E-C25625655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2400">
                <a:latin typeface="Verdana"/>
                <a:ea typeface="Verdana"/>
              </a:rPr>
              <a:t>Future Work</a:t>
            </a:r>
            <a:endParaRPr lang="en-US" sz="2400"/>
          </a:p>
        </p:txBody>
      </p:sp>
      <p:sp>
        <p:nvSpPr>
          <p:cNvPr id="8" name="Inhaltsplatzhalter 1">
            <a:extLst>
              <a:ext uri="{FF2B5EF4-FFF2-40B4-BE49-F238E27FC236}">
                <a16:creationId xmlns:a16="http://schemas.microsoft.com/office/drawing/2014/main" id="{49A440AD-B5E5-06A6-BD10-FB315C18F490}"/>
              </a:ext>
            </a:extLst>
          </p:cNvPr>
          <p:cNvSpPr txBox="1">
            <a:spLocks/>
          </p:cNvSpPr>
          <p:nvPr/>
        </p:nvSpPr>
        <p:spPr>
          <a:xfrm>
            <a:off x="-2253" y="1390130"/>
            <a:ext cx="11451020" cy="3888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Move from model training to deployment phase</a:t>
            </a:r>
            <a:endParaRPr lang="en-US" sz="18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Build an inference pipeline to process real machine sensor inputs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Develop an interactive </a:t>
            </a:r>
            <a:r>
              <a:rPr lang="en-US" sz="1800" err="1">
                <a:solidFill>
                  <a:srgbClr val="002060"/>
                </a:solidFill>
                <a:latin typeface="Verdana"/>
                <a:ea typeface="Verdana"/>
              </a:rPr>
              <a:t>PdM</a:t>
            </a: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 dashboard using </a:t>
            </a:r>
            <a:r>
              <a:rPr lang="en-US" sz="1800" b="1" err="1">
                <a:solidFill>
                  <a:srgbClr val="002060"/>
                </a:solidFill>
                <a:latin typeface="Verdana"/>
                <a:ea typeface="Verdana"/>
              </a:rPr>
              <a:t>Streamlit</a:t>
            </a:r>
            <a:r>
              <a:rPr lang="en-US" sz="1800" b="1">
                <a:solidFill>
                  <a:srgbClr val="002060"/>
                </a:solidFill>
                <a:latin typeface="Verdana"/>
                <a:ea typeface="Verdana"/>
              </a:rPr>
              <a:t> </a:t>
            </a:r>
            <a:r>
              <a:rPr lang="en-US" sz="1800">
                <a:solidFill>
                  <a:srgbClr val="002060"/>
                </a:solidFill>
                <a:latin typeface="Verdana"/>
                <a:ea typeface="Verdana"/>
              </a:rPr>
              <a:t>where users can input data and receive predictions</a:t>
            </a:r>
          </a:p>
          <a:p>
            <a:pPr marL="457200" lvl="1" indent="0">
              <a:buNone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800">
              <a:solidFill>
                <a:srgbClr val="002060"/>
              </a:solidFill>
              <a:latin typeface="Verdana"/>
              <a:ea typeface="Verdana"/>
            </a:endParaRPr>
          </a:p>
          <a:p>
            <a:pPr marL="457200" lvl="1" indent="0">
              <a:buNone/>
            </a:pPr>
            <a:endParaRPr lang="en-US" sz="1600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>
              <a:solidFill>
                <a:srgbClr val="002060"/>
              </a:solidFill>
            </a:endParaRPr>
          </a:p>
          <a:p>
            <a:pPr lvl="2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7279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DP-B-5_Präsentationsvorlage" id="{128D2E0A-A394-411D-BD24-FC1AB16537CF}" vid="{41852122-8DFA-43C1-9355-1D6B5715634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MDP-B-5_Präsentationsvorlage</Template>
  <Application>Microsoft Office PowerPoint</Application>
  <PresentationFormat>Widescreen</PresentationFormat>
  <Slides>27</Slides>
  <Notes>0</Notes>
  <HiddenSlides>16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</vt:lpstr>
      <vt:lpstr>PowerPoint Presentation</vt:lpstr>
      <vt:lpstr>Project Timeline</vt:lpstr>
      <vt:lpstr>Project Overview</vt:lpstr>
      <vt:lpstr>Project Overview</vt:lpstr>
      <vt:lpstr>Recap: Data Understanding</vt:lpstr>
      <vt:lpstr>Data Understanding</vt:lpstr>
      <vt:lpstr>Recap: Data Exploration (CODE)</vt:lpstr>
      <vt:lpstr>Data Exploration</vt:lpstr>
      <vt:lpstr>DMU 50</vt:lpstr>
      <vt:lpstr>Motivation for Deep Learning</vt:lpstr>
      <vt:lpstr>Methodology flowchart</vt:lpstr>
      <vt:lpstr>Results</vt:lpstr>
      <vt:lpstr>Performance Comparison: Our Results vs. Literature</vt:lpstr>
      <vt:lpstr>Validation</vt:lpstr>
      <vt:lpstr>Validation</vt:lpstr>
      <vt:lpstr>Outcomes</vt:lpstr>
      <vt:lpstr>Recap: Initial Data Exploration</vt:lpstr>
      <vt:lpstr>Recap: Handling Class Imbalance (SMOTE)</vt:lpstr>
      <vt:lpstr>Recap: Principal Component Analysis</vt:lpstr>
      <vt:lpstr>Recap: Baseline Model</vt:lpstr>
      <vt:lpstr>Motivation for Deep Learning</vt:lpstr>
      <vt:lpstr>Initial Neural Network Architecture</vt:lpstr>
      <vt:lpstr>Initial Neural Network Architecture (CODE)</vt:lpstr>
      <vt:lpstr>Advanced Neural Network Model</vt:lpstr>
      <vt:lpstr>Advanced Neural Network Architecture (CODE)</vt:lpstr>
      <vt:lpstr>Training Strategy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Robotik</dc:title>
  <dc:creator>Johannes Vogl</dc:creator>
  <cp:revision>2</cp:revision>
  <dcterms:created xsi:type="dcterms:W3CDTF">2024-01-07T18:27:34Z</dcterms:created>
  <dcterms:modified xsi:type="dcterms:W3CDTF">2025-12-21T21:29:50Z</dcterms:modified>
</cp:coreProperties>
</file>