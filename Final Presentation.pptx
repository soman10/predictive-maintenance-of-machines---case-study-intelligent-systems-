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25" r:id="rId3"/>
    <p:sldId id="331" r:id="rId4"/>
    <p:sldId id="326" r:id="rId5"/>
    <p:sldId id="327" r:id="rId6"/>
    <p:sldId id="305" r:id="rId7"/>
    <p:sldId id="320" r:id="rId8"/>
    <p:sldId id="304" r:id="rId9"/>
    <p:sldId id="321" r:id="rId10"/>
    <p:sldId id="329" r:id="rId11"/>
    <p:sldId id="330" r:id="rId12"/>
    <p:sldId id="335" r:id="rId13"/>
    <p:sldId id="333" r:id="rId14"/>
    <p:sldId id="332" r:id="rId15"/>
    <p:sldId id="336" r:id="rId16"/>
    <p:sldId id="337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2635FE-EEFA-51C7-6F50-B33A1D0D84CD}" v="15" dt="2026-01-18T14:19:54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22E15-3370-419E-AB23-4A29B0882EB8}" type="datetimeFigureOut">
              <a:rPr lang="de-DE" smtClean="0"/>
              <a:t>18.01.2026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99619-4B08-432A-9126-E69094AEECA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86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8EDC8022-D114-B3DB-C98C-48D579B48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50830"/>
            <a:ext cx="9144000" cy="720000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CBE88C-22D6-A1D0-8993-B1F841DD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A7C20B81-EF76-43B2-97F9-22082C06D793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ACAD9C-B577-D6AA-DD2C-9C1749F4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0B508F-3501-BE0E-28DA-D007DE0C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3C884321-03BC-4B89-A235-71C364322ED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1E8828-73B7-BF60-B17A-6479E0F92A55}"/>
              </a:ext>
            </a:extLst>
          </p:cNvPr>
          <p:cNvSpPr/>
          <p:nvPr userDrawn="1"/>
        </p:nvSpPr>
        <p:spPr>
          <a:xfrm>
            <a:off x="224286" y="198408"/>
            <a:ext cx="11743427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71BC03-B0AE-4F1C-305D-91201D64D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86" y="198408"/>
            <a:ext cx="9317214" cy="720000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9614C45A-7F49-561C-EBF2-B410E5DFB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47"/>
            <a:ext cx="2426213" cy="426721"/>
          </a:xfrm>
          <a:prstGeom prst="rect">
            <a:avLst/>
          </a:prstGeom>
        </p:spPr>
      </p:pic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5EE95BB-8FD7-A84E-73B3-D4122EA5ED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0" y="1970088"/>
            <a:ext cx="9144000" cy="3636962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DA00AEB-41F4-DE18-0B1A-9EC9F34FA3EB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0565985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90C3A8-51D6-13EC-0A8E-6F68CC0FE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E0AB93-A083-2D7B-32A5-D3C15744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D4B-DDCC-491B-A552-2A6CE08C8F66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4866A-70C0-A363-E1ED-170FF078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C3DFEB-9D20-E62B-8E4D-D5C52451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1179A5F-1302-1F02-855F-4E85F7D95494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B38221-C50D-2476-4BA6-F038B342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7" y="198409"/>
            <a:ext cx="9317213" cy="720000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0" name="Grafik 9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B02D3337-1725-720C-A520-8D35D8665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47"/>
            <a:ext cx="2426213" cy="42672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9A94ABF-B8E0-4329-868D-0A330D129A0E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C1B3666-A441-40AA-B829-41F09E983E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8"/>
            <a:ext cx="11743426" cy="613938"/>
          </a:xfrm>
        </p:spPr>
        <p:txBody>
          <a:bodyPr anchor="ctr"/>
          <a:lstStyle>
            <a:lvl1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57868157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90C3A8-51D6-13EC-0A8E-6F68CC0FE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2102"/>
            <a:ext cx="10515600" cy="5204861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E0AB93-A083-2D7B-32A5-D3C15744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B895-7CE5-402F-80C0-0BF921356B10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4866A-70C0-A363-E1ED-170FF078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C3DFEB-9D20-E62B-8E4D-D5C52451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1179A5F-1302-1F02-855F-4E85F7D95494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B38221-C50D-2476-4BA6-F038B342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7" y="198409"/>
            <a:ext cx="9317213" cy="720000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0" name="Grafik 9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B02D3337-1725-720C-A520-8D35D8665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47"/>
            <a:ext cx="2426213" cy="42672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6A4EAB6-9E74-2AF6-1ADD-72DA91E391AF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022743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6D0D75-7F83-6A83-5F4D-9D8C254B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F208D5-404C-BAA4-C607-83B1F2CE7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F13E6-4CF9-D3C4-F639-DD86F5D7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04D-F0F5-4C62-9BD0-563E37F7A095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974481-765F-872C-9262-6B3FA646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2653E-258B-4B18-5707-0D51A970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607233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F0CB6B-5589-8464-0A29-BF852124B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ECA672-F110-8616-5C28-1C8445F5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D1544E-78A9-A88A-78F9-E2DE854B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524C-83C6-40AC-94DA-4818C54607BC}" type="datetime1">
              <a:rPr lang="de-DE" smtClean="0"/>
              <a:t>18.01.2026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729A38-DAAD-75B6-257A-C3BF4664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57A969-D5AB-1057-89BA-C0351B6E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4D0956-4515-CE03-188A-E51303435C0E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465A69C-FC50-E245-AF67-015365C521E2}"/>
              </a:ext>
            </a:extLst>
          </p:cNvPr>
          <p:cNvSpPr txBox="1">
            <a:spLocks/>
          </p:cNvSpPr>
          <p:nvPr userDrawn="1"/>
        </p:nvSpPr>
        <p:spPr>
          <a:xfrm>
            <a:off x="224286" y="198408"/>
            <a:ext cx="9317214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endParaRPr lang="de-DE" sz="4000"/>
          </a:p>
        </p:txBody>
      </p:sp>
      <p:pic>
        <p:nvPicPr>
          <p:cNvPr id="11" name="Grafik 10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8C6A2D9A-9F20-E51F-2C0A-6B0139DFA9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88"/>
            <a:ext cx="2426213" cy="42672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9AD69B7A-3BB8-A2B6-5065-68B062CDF464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F4FA3B9-74E3-E990-348E-B43B542F4C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8"/>
            <a:ext cx="11743426" cy="613938"/>
          </a:xfrm>
        </p:spPr>
        <p:txBody>
          <a:bodyPr anchor="ctr"/>
          <a:lstStyle>
            <a:lvl1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3AEC2A9-6D61-B0BF-9024-8F7EE0782F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3838" y="198408"/>
            <a:ext cx="9317037" cy="72000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54022365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F0CB6B-5589-8464-0A29-BF852124B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72101"/>
            <a:ext cx="5181600" cy="5204862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ECA672-F110-8616-5C28-1C8445F5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72101"/>
            <a:ext cx="5181600" cy="5204862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D1544E-78A9-A88A-78F9-E2DE854B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2291-B762-4BCB-B685-6A37891D4545}" type="datetime1">
              <a:rPr lang="de-DE" smtClean="0"/>
              <a:t>18.01.2026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729A38-DAAD-75B6-257A-C3BF4664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57A969-D5AB-1057-89BA-C0351B6E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4D0956-4515-CE03-188A-E51303435C0E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8C6A2D9A-9F20-E51F-2C0A-6B0139DFA9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88"/>
            <a:ext cx="2426213" cy="42672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9AD69B7A-3BB8-A2B6-5065-68B062CDF464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615E2A3-98F5-A7BE-3659-BAFF5CE1C1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4286" y="198408"/>
            <a:ext cx="9317213" cy="7199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298243012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03264-800C-C284-DCF7-2B4BB98C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F4FD0E-15FE-125C-7457-0D0730F3E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4DE181-B758-162A-265D-715CD12F2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1FB11A-FFBA-7B13-0D26-D0FC91EF7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97504AF-2D05-74A6-631B-235B9F606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6BB4-4601-3DD2-EBE4-A01B0025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DC0F-FCCF-436D-B462-3925CE2E58BF}" type="datetime1">
              <a:rPr lang="de-DE" smtClean="0"/>
              <a:t>18.01.2026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4F213E-D4E6-40BB-609E-451DDECC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CCE5DC-0BB1-C7FA-3975-442FCB73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260430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4B49E-4519-F231-F7AF-00B3B669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22C062A-542B-B0B9-01FC-D97C6B1C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3D51-A1B3-4B7C-A0BC-37A8B59EF5D1}" type="datetime1">
              <a:rPr lang="de-DE" smtClean="0"/>
              <a:t>18.01.2026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3604A5-7594-9203-72EF-331618A3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53CC75-54EA-FA23-7701-8EEC8EC3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59014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4E7DD1-6F81-33D8-8E15-2192730C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7A6-A2A4-40C8-9313-D1BCB096C242}" type="datetime1">
              <a:rPr lang="de-DE" smtClean="0"/>
              <a:t>18.01.2026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BA5A4C-ABD9-19C9-0F05-7179E472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E810F0-783A-25DE-A5FF-49DD584F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559258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75445-9197-DAAD-315B-1B8AD071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11B9AC-5AF0-2F34-E9AE-7E56EFF4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91D5CD-7683-EF45-C3D8-7A6ACAF68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04E4D3-F432-DB44-F6BC-0963A98C3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5D9-1194-4828-8F1D-FF60AC61B7E5}" type="datetime1">
              <a:rPr lang="de-DE" smtClean="0"/>
              <a:t>18.01.2026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1BA526-A2D3-3042-73DA-A65C471A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1D7639-E38B-720E-0989-499FEBB5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5603315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2EAB2-EC53-7E48-BD92-EBFAD8CE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A6E6FDF-13AF-0BBA-B710-A279D72A9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90A76B-7CCE-F15A-FABA-35501E5E4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C9207A-800C-A2E4-89A1-92A8FAE1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DA15-A852-4AFC-97CC-3DE8A5814030}" type="datetime1">
              <a:rPr lang="de-DE" smtClean="0"/>
              <a:t>18.01.2026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B6A96-0311-3F24-2ED8-EBF877EBB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4CAA10-CD38-7D79-66EF-D57B73C5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831763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429CD0-5BAB-1CF1-5B8F-D59C74E6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525ADB-AF41-88A1-D744-6F3CD1F1B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40B143-CAD9-A0AD-CC66-447E2BA10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97B5-4881-4C7A-B029-3BACCA7562ED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E25EC4-4087-0266-207E-05D0796A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C44909-70F5-7653-023D-EFFD5B22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773996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9B99344-F0C8-1CD9-C09D-7C7EE2088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80F48D-9D79-2AEB-8022-689B08BEC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A3ADBE-3EBA-3684-EC0A-67BE51AA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2520-3A19-4ABE-A8AE-6C049CB10B09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ABC7CA-6919-65E4-971D-B8679AD5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0C3F8-752A-F100-001E-C9BA1DBC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4060744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05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F151F13-F7A3-616A-18F5-1ED8653B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8F5D7C-8965-2181-EBC0-8F218DF48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8C5ACD-33F5-3D01-0423-F3C8A0995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9CFEF-12DF-4F90-BD60-A86EF247E2CD}" type="datetime1">
              <a:rPr lang="de-DE" smtClean="0"/>
              <a:t>18.01.2026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ABE83-A3E4-9841-8C03-533709055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6AD623-0150-DFD7-580B-ACB1CD8F9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27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6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2" r:id="rId1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B693B5EB-DDCC-2B7F-4FB4-1CF680E7D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7450" y="2097893"/>
            <a:ext cx="7277100" cy="3078971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r>
              <a:rPr lang="en-US" sz="1400"/>
              <a:t>Case Study: Intelligent Systems (WS25/26)</a:t>
            </a:r>
            <a:endParaRPr lang="de-DE" sz="1400"/>
          </a:p>
          <a:p>
            <a:pPr>
              <a:lnSpc>
                <a:spcPct val="100000"/>
              </a:lnSpc>
            </a:pPr>
            <a:r>
              <a:rPr lang="en-US" sz="3200"/>
              <a:t>Predictive Maintenance of Milling Machines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sz="14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sz="1400"/>
              <a:t>Lecturer: </a:t>
            </a:r>
            <a:r>
              <a:rPr lang="de-DE" sz="1400" b="0"/>
              <a:t>Hamidreza Heidari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de-DE" sz="1400"/>
              <a:t>Members: </a:t>
            </a:r>
            <a:r>
              <a:rPr lang="de-DE" sz="1400" b="0"/>
              <a:t>Irtaza Janjua, Soman Tariq, Sadeed Ahmad, Usama Ali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971D8C-08DE-DF37-94F4-24535D94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626" y="6408434"/>
            <a:ext cx="2743200" cy="365125"/>
          </a:xfrm>
        </p:spPr>
        <p:txBody>
          <a:bodyPr/>
          <a:lstStyle/>
          <a:p>
            <a:fld id="{F2919070-17E7-47A5-8399-76CC63D6E563}" type="datetime1">
              <a:rPr lang="de-DE" smtClean="0">
                <a:solidFill>
                  <a:schemeClr val="bg1"/>
                </a:solidFill>
              </a:rPr>
              <a:t>18.01.2026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4B4F50-F11C-22D2-8C0A-C9F59E55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9026" y="6408434"/>
            <a:ext cx="2743200" cy="365125"/>
          </a:xfrm>
        </p:spPr>
        <p:txBody>
          <a:bodyPr/>
          <a:lstStyle/>
          <a:p>
            <a:fld id="{3C884321-03BC-4B89-A235-71C364322ED5}" type="slidenum">
              <a:rPr lang="de-DE" smtClean="0">
                <a:solidFill>
                  <a:schemeClr val="bg1"/>
                </a:solidFill>
              </a:rPr>
              <a:pPr/>
              <a:t>1</a:t>
            </a:fld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92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28272-5708-06EE-AB71-B2D3227B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F4589C-53EF-410A-6981-2E030E7EC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0C2A13-0162-6A58-0CAB-B51BF4F6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523E0BAC-F652-A41B-FE23-1D872D89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>
                <a:latin typeface="Verdana"/>
                <a:ea typeface="Verdana"/>
              </a:rPr>
              <a:t>Project </a:t>
            </a:r>
            <a:r>
              <a:rPr lang="de-DE" sz="2400" err="1">
                <a:latin typeface="Verdana"/>
                <a:ea typeface="Verdana"/>
              </a:rPr>
              <a:t>Overview</a:t>
            </a:r>
            <a:endParaRPr lang="de-DE" sz="2400" err="1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018436-2DDA-F0A2-5BE2-AF2F7DB225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232902" cy="5466838"/>
          </a:xfrm>
        </p:spPr>
        <p:txBody>
          <a:bodyPr numCol="1" anchor="t">
            <a:normAutofit/>
          </a:bodyPr>
          <a:lstStyle/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 marL="0" indent="0">
              <a:buNone/>
            </a:pPr>
            <a:r>
              <a:rPr lang="en-US" sz="1600" b="1">
                <a:latin typeface="Verdana"/>
                <a:ea typeface="Verdana"/>
              </a:rPr>
              <a:t>Industrial Problem</a:t>
            </a:r>
            <a:endParaRPr lang="en-US" sz="1600"/>
          </a:p>
          <a:p>
            <a:pPr marL="0" indent="0">
              <a:buNone/>
            </a:pPr>
            <a:endParaRPr lang="en-US" sz="1600" b="1">
              <a:latin typeface="Verdana"/>
              <a:ea typeface="Verdana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Milling machines are critical production assets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Unexpected machine failures lead to </a:t>
            </a:r>
            <a:r>
              <a:rPr lang="en-US" sz="1600" b="1">
                <a:latin typeface="Verdana"/>
                <a:ea typeface="Verdana"/>
              </a:rPr>
              <a:t>unplanned downtime</a:t>
            </a:r>
            <a:r>
              <a:rPr lang="en-US" sz="1600">
                <a:latin typeface="Verdana"/>
                <a:ea typeface="Verdana"/>
              </a:rPr>
              <a:t>, production delays, and high maintenance costs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Traditional preventive maintenance often replaces components </a:t>
            </a:r>
            <a:r>
              <a:rPr lang="en-US" sz="1600" b="1">
                <a:latin typeface="Verdana"/>
                <a:ea typeface="Verdana"/>
              </a:rPr>
              <a:t>too early or too late</a:t>
            </a:r>
            <a:endParaRPr lang="en-US"/>
          </a:p>
          <a:p>
            <a:pPr>
              <a:buFont typeface="Arial"/>
              <a:buChar char="•"/>
            </a:pPr>
            <a:endParaRPr lang="en-US" sz="1600" b="1">
              <a:latin typeface="Verdana"/>
              <a:ea typeface="Verdana"/>
            </a:endParaRPr>
          </a:p>
          <a:p>
            <a:pPr marL="0" indent="0">
              <a:buNone/>
            </a:pPr>
            <a:r>
              <a:rPr lang="en-US" sz="1600" b="1">
                <a:latin typeface="Verdana"/>
                <a:ea typeface="Verdana"/>
              </a:rPr>
              <a:t>Main Goal</a:t>
            </a:r>
            <a:endParaRPr lang="en-US"/>
          </a:p>
          <a:p>
            <a:pPr marL="0" indent="0">
              <a:buNone/>
            </a:pPr>
            <a:endParaRPr lang="en-US" sz="1600" b="1">
              <a:latin typeface="Verdana"/>
              <a:ea typeface="Verdana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Use </a:t>
            </a:r>
            <a:r>
              <a:rPr lang="en-US" sz="1600" b="1">
                <a:latin typeface="Verdana"/>
                <a:ea typeface="Verdana"/>
              </a:rPr>
              <a:t>machine sensor data</a:t>
            </a:r>
            <a:r>
              <a:rPr lang="en-US" sz="1600">
                <a:latin typeface="Verdana"/>
                <a:ea typeface="Verdana"/>
              </a:rPr>
              <a:t> (e.g. temperature, torque, vibration) to </a:t>
            </a:r>
            <a:r>
              <a:rPr lang="en-US" sz="1600" b="1">
                <a:latin typeface="Verdana"/>
                <a:ea typeface="Verdana"/>
              </a:rPr>
              <a:t>Detect early signs of machine degradation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latin typeface="Verdana"/>
                <a:ea typeface="Verdana"/>
              </a:rPr>
              <a:t>Predict failures before breakdown occurs</a:t>
            </a:r>
            <a:r>
              <a:rPr lang="en-US" sz="1600">
                <a:latin typeface="Verdana"/>
                <a:ea typeface="Verdana"/>
              </a:rPr>
              <a:t>, enabling planned maintenance</a:t>
            </a:r>
            <a:endParaRPr lang="en-US"/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 marL="0" indent="0">
              <a:buNone/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100005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02573-29FF-CB40-CE66-344288A4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1276800-6091-47D5-41A6-63FBD4EB2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93EC8E-08CA-ADBC-C012-9D4115CC9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1150D6-DC81-93E3-A581-92474008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3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B404C5D-8053-C65C-537E-E57A3BAE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DMU 50</a:t>
            </a:r>
            <a:endParaRPr lang="en-US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A39C0288-DE5B-2789-DED6-1BA6C06F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723" y="1008994"/>
            <a:ext cx="6250555" cy="5165834"/>
          </a:xfrm>
          <a:prstGeom prst="rect">
            <a:avLst/>
          </a:prstGeom>
        </p:spPr>
      </p:pic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D6DC364B-C5DF-1AEC-3CF7-7C836DAB7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157" y="951186"/>
            <a:ext cx="6574942" cy="522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7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2191F-8F08-CD70-A911-1CF88971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6ECD89-F326-E7A8-7EFA-3FD80410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6141F8-96CA-1B63-DFA1-71BA048F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4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4E78F4A-D17F-8B59-1818-601D73BE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>
                <a:latin typeface="Verdana"/>
                <a:ea typeface="Verdana"/>
              </a:rPr>
              <a:t>Data Understanding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AB122D-3A3C-385E-8690-25601314F6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6456" y="3074414"/>
            <a:ext cx="1251445" cy="571724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PK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AC87A4-EF79-5BF9-8CD3-D046FFBCE310}"/>
              </a:ext>
            </a:extLst>
          </p:cNvPr>
          <p:cNvSpPr txBox="1"/>
          <p:nvPr/>
        </p:nvSpPr>
        <p:spPr>
          <a:xfrm>
            <a:off x="621989" y="1123492"/>
            <a:ext cx="5868601" cy="49208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Data Source</a:t>
            </a:r>
            <a:endParaRPr lang="de-DE" sz="1400">
              <a:solidFill>
                <a:srgbClr val="002060"/>
              </a:solidFill>
              <a:latin typeface="Verdana"/>
              <a:ea typeface="Verdana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Industrial milling machine operating data</a:t>
            </a:r>
            <a:endParaRPr lang="de-DE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10,000 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machine operating cycles</a:t>
            </a:r>
            <a:endParaRPr lang="de-DE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Three machine quality levels</a:t>
            </a: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:</a:t>
            </a:r>
            <a:endParaRPr lang="en-US" sz="1600">
              <a:latin typeface="Verdana"/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  <a:defRPr/>
            </a:pP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Low (50%), Medium (30%), High (20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%)</a:t>
            </a:r>
          </a:p>
          <a:p>
            <a:pPr lvl="1">
              <a:defRPr/>
            </a:pPr>
            <a:endParaRPr lang="en-US" sz="1600" b="1">
              <a:solidFill>
                <a:srgbClr val="002060"/>
              </a:solidFill>
              <a:latin typeface="Verdana"/>
              <a:ea typeface="Calibri" panose="020F0502020204030204"/>
              <a:cs typeface="Calibri" panose="020F0502020204030204"/>
            </a:endParaRPr>
          </a:p>
          <a:p>
            <a:pPr>
              <a:defRPr/>
            </a:pPr>
            <a:r>
              <a:rPr lang="en-US" sz="1600" b="1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Monitored Machine Signals</a:t>
            </a:r>
          </a:p>
          <a:p>
            <a:pPr>
              <a:defRPr/>
            </a:pPr>
            <a:endParaRPr lang="en-US" sz="1600" b="1">
              <a:solidFill>
                <a:srgbClr val="002060"/>
              </a:solidFill>
              <a:latin typeface="Verdana"/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Air</a:t>
            </a: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temperature [K]</a:t>
            </a:r>
            <a:endParaRPr lang="en-US">
              <a:latin typeface="Verdana"/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Process 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temperature 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  <a:cs typeface="+mn-lt"/>
              </a:rPr>
              <a:t>[K]</a:t>
            </a:r>
            <a:endParaRPr lang="en-US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Spindle speed </a:t>
            </a: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(rpm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)</a:t>
            </a:r>
            <a:endParaRPr lang="en-US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Torque (Nm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)</a:t>
            </a:r>
            <a:endParaRPr lang="de-DE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Tool 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wear </a:t>
            </a: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(min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)</a:t>
            </a:r>
            <a:endParaRPr lang="en-US" sz="1600">
              <a:solidFill>
                <a:srgbClr val="002060"/>
              </a:solidFill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2060"/>
              </a:solidFill>
              <a:latin typeface="Verdana"/>
              <a:ea typeface="+mn-lt"/>
              <a:cs typeface="+mn-lt"/>
            </a:endParaRPr>
          </a:p>
          <a:p>
            <a:pPr>
              <a:defRPr/>
            </a:pPr>
            <a:r>
              <a:rPr lang="en-US" sz="1600" b="1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Maintenance </a:t>
            </a:r>
            <a:r>
              <a:rPr kumimoji="0" lang="en-US" sz="16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Targets</a:t>
            </a:r>
            <a:endParaRPr lang="en-US" sz="1600" b="1">
              <a:solidFill>
                <a:srgbClr val="002060"/>
              </a:solidFill>
              <a:latin typeface="Verdana"/>
              <a:ea typeface="+mn-lt"/>
              <a:cs typeface="+mn-lt"/>
            </a:endParaRPr>
          </a:p>
          <a:p>
            <a:pPr>
              <a:defRPr/>
            </a:pPr>
            <a:endParaRPr lang="en-US" sz="1600" b="1">
              <a:solidFill>
                <a:srgbClr val="002060"/>
              </a:solidFill>
              <a:latin typeface="Verdana"/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Machine </a:t>
            </a:r>
            <a:r>
              <a:rPr lang="en-US" sz="1600" b="1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failure: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 </a:t>
            </a: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Yes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 </a:t>
            </a: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/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 </a:t>
            </a: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No</a:t>
            </a:r>
            <a:endParaRPr lang="en-US" sz="1600">
              <a:latin typeface="Verdana"/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sz="1600" b="1">
              <a:solidFill>
                <a:srgbClr val="002060"/>
              </a:solidFill>
              <a:latin typeface="Verdana"/>
              <a:ea typeface="Calibri" panose="020F0502020204030204"/>
              <a:cs typeface="Calibri" panose="020F0502020204030204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423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3AE0-62F6-1D36-AF84-79BF28E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7CDF933-A064-6AAB-F701-B0D5CDBDB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174A5F-CEA8-DAB9-8B6D-A97A02EC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4B0FB2-C2A7-6ED8-D621-E16A9DCF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5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2792C79-61B5-07DB-EEF0-13B796B0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Data Exploration</a:t>
            </a:r>
            <a:endParaRPr lang="en-US" sz="24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3BC0F339-4DD9-0482-095A-7914CAFFB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723" y="1008994"/>
            <a:ext cx="6250555" cy="516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54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F9D1AF58-46DD-1344-1FC0-D81FA827A28B}"/>
              </a:ext>
            </a:extLst>
          </p:cNvPr>
          <p:cNvSpPr txBox="1"/>
          <p:nvPr/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4CF7E1F-663B-4487-98D1-7D853D8AC1CA}" type="datetime1">
              <a: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18.01.2026</a:t>
            </a:fld>
            <a:endParaRPr lang="de-DE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3" name="Foliennummernplatzhalter 6">
            <a:extLst>
              <a:ext uri="{FF2B5EF4-FFF2-40B4-BE49-F238E27FC236}">
                <a16:creationId xmlns:a16="http://schemas.microsoft.com/office/drawing/2014/main" id="{681100F9-7BFF-F649-389E-5D7761DB2683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ACBD8E6-A13B-4F2F-AC42-9EFAC4C6C72F}" type="slidenum">
              <a:t>6</a:t>
            </a:fld>
            <a:endParaRPr lang="de-DE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4" name="Titel 9">
            <a:extLst>
              <a:ext uri="{FF2B5EF4-FFF2-40B4-BE49-F238E27FC236}">
                <a16:creationId xmlns:a16="http://schemas.microsoft.com/office/drawing/2014/main" id="{7789935D-89A4-0CB3-9E8A-2723BDEC1E4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de-DE" sz="2400" err="1">
                <a:latin typeface="Verdana"/>
                <a:ea typeface="Verdana"/>
              </a:rPr>
              <a:t>Methodology</a:t>
            </a:r>
            <a:r>
              <a:rPr lang="de-DE" sz="2400">
                <a:latin typeface="Verdana"/>
                <a:ea typeface="Verdana"/>
              </a:rPr>
              <a:t> flowchart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F62203F-4B23-BC24-EFEB-4E825B28472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76454" y="3074413"/>
            <a:ext cx="1251447" cy="571719"/>
          </a:xfrm>
        </p:spPr>
        <p:txBody>
          <a:bodyPr/>
          <a:lstStyle/>
          <a:p>
            <a:pPr marL="0" lvl="0" indent="0">
              <a:buNone/>
            </a:pPr>
            <a:endParaRPr lang="en-US" sz="1600">
              <a:solidFill>
                <a:srgbClr val="002060"/>
              </a:solidFill>
              <a:latin typeface="Verdana" pitchFamily="34"/>
              <a:ea typeface="Verdana" pitchFamily="34"/>
            </a:endParaRPr>
          </a:p>
          <a:p>
            <a:pPr marL="0" lvl="0" indent="0">
              <a:buNone/>
            </a:pPr>
            <a:endParaRPr lang="en-US" sz="1600">
              <a:solidFill>
                <a:srgbClr val="002060"/>
              </a:solidFill>
              <a:latin typeface="Verdana" pitchFamily="34"/>
              <a:ea typeface="Verdana" pitchFamily="34"/>
            </a:endParaRPr>
          </a:p>
          <a:p>
            <a:pPr marL="0" lvl="0" indent="0">
              <a:buNone/>
            </a:pPr>
            <a:endParaRPr lang="en-PK" sz="1600">
              <a:solidFill>
                <a:srgbClr val="002060"/>
              </a:solidFill>
              <a:latin typeface="Verdana" pitchFamily="34"/>
              <a:ea typeface="Verdana" pitchFamily="34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540C8E63-8326-0BE4-99CB-7A42DB7C65E1}"/>
              </a:ext>
            </a:extLst>
          </p:cNvPr>
          <p:cNvSpPr txBox="1"/>
          <p:nvPr/>
        </p:nvSpPr>
        <p:spPr>
          <a:xfrm>
            <a:off x="500944" y="1309521"/>
            <a:ext cx="6096963" cy="71916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none" strike="noStrike" kern="1200" cap="none" spc="0" baseline="0">
                <a:solidFill>
                  <a:srgbClr val="002060"/>
                </a:solidFill>
                <a:uFillTx/>
                <a:latin typeface="Verdana" pitchFamily="34"/>
                <a:ea typeface="Verdana" pitchFamily="34"/>
              </a:rPr>
              <a:t>Tools: </a:t>
            </a:r>
            <a:endParaRPr lang="en-US" sz="1800" b="0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none" strike="noStrike" kern="1200" cap="none" spc="0" baseline="0">
              <a:solidFill>
                <a:srgbClr val="002060"/>
              </a:solidFill>
              <a:uFillTx/>
              <a:latin typeface="Verdana" pitchFamily="34"/>
              <a:ea typeface="Verdana" pitchFamily="34"/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83704A6A-DD24-7610-089B-987C8F7AB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042" y="1830135"/>
            <a:ext cx="768324" cy="768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6E630A-0E58-D0F5-5779-DA14291D1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3587" y="2645615"/>
            <a:ext cx="1171876" cy="7218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66486AE4-AEFA-EA8C-623E-DA2A26827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25313" y="3487823"/>
            <a:ext cx="1101760" cy="5943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13" descr="Top Python Libraries Every Beginner Should Learn &amp; build projects">
            <a:extLst>
              <a:ext uri="{FF2B5EF4-FFF2-40B4-BE49-F238E27FC236}">
                <a16:creationId xmlns:a16="http://schemas.microsoft.com/office/drawing/2014/main" id="{F877A50F-08FA-0863-57CC-49AC32EB26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5275" y="4070826"/>
            <a:ext cx="1072828" cy="1072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1" descr="File:Streamlit-logo-primary-colormark-darktext.png ...">
            <a:extLst>
              <a:ext uri="{FF2B5EF4-FFF2-40B4-BE49-F238E27FC236}">
                <a16:creationId xmlns:a16="http://schemas.microsoft.com/office/drawing/2014/main" id="{B4F055AB-0708-28C3-188B-288CB1FB9F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75" y="5138242"/>
            <a:ext cx="1265703" cy="865095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12" name="İçerik Yer Tutucusu 3">
            <a:extLst>
              <a:ext uri="{FF2B5EF4-FFF2-40B4-BE49-F238E27FC236}">
                <a16:creationId xmlns:a16="http://schemas.microsoft.com/office/drawing/2014/main" id="{717EAA82-4491-918E-A9A1-7BDF847F09FC}"/>
              </a:ext>
            </a:extLst>
          </p:cNvPr>
          <p:cNvGrpSpPr/>
          <p:nvPr/>
        </p:nvGrpSpPr>
        <p:grpSpPr>
          <a:xfrm>
            <a:off x="2057445" y="1304135"/>
            <a:ext cx="9639888" cy="4730877"/>
            <a:chOff x="2057445" y="1304135"/>
            <a:chExt cx="9639888" cy="473087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92FC6C1-BE58-C7EA-AB57-56C70CCEF736}"/>
                </a:ext>
              </a:extLst>
            </p:cNvPr>
            <p:cNvSpPr/>
            <p:nvPr/>
          </p:nvSpPr>
          <p:spPr>
            <a:xfrm>
              <a:off x="2057445" y="1304135"/>
              <a:ext cx="888577" cy="13083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56726"/>
                <a:gd name="f7" fmla="val 809708"/>
                <a:gd name="f8" fmla="val 1156725"/>
                <a:gd name="f9" fmla="val 526310"/>
                <a:gd name="f10" fmla="val 578363"/>
                <a:gd name="f11" fmla="val 1"/>
                <a:gd name="f12" fmla="val 283398"/>
                <a:gd name="f13" fmla="+- 0 0 -90"/>
                <a:gd name="f14" fmla="*/ f3 1 1156726"/>
                <a:gd name="f15" fmla="*/ f4 1 809708"/>
                <a:gd name="f16" fmla="+- f7 0 f5"/>
                <a:gd name="f17" fmla="+- f6 0 f5"/>
                <a:gd name="f18" fmla="*/ f13 f0 1"/>
                <a:gd name="f19" fmla="*/ f17 1 1156726"/>
                <a:gd name="f20" fmla="*/ f16 1 809708"/>
                <a:gd name="f21" fmla="*/ 0 f17 1"/>
                <a:gd name="f22" fmla="*/ 0 f16 1"/>
                <a:gd name="f23" fmla="*/ 751872 f17 1"/>
                <a:gd name="f24" fmla="*/ 1156726 f17 1"/>
                <a:gd name="f25" fmla="*/ 404854 f16 1"/>
                <a:gd name="f26" fmla="*/ 809708 f16 1"/>
                <a:gd name="f27" fmla="*/ 404854 f17 1"/>
                <a:gd name="f28" fmla="*/ f18 1 f2"/>
                <a:gd name="f29" fmla="*/ f21 1 1156726"/>
                <a:gd name="f30" fmla="*/ f22 1 809708"/>
                <a:gd name="f31" fmla="*/ f23 1 1156726"/>
                <a:gd name="f32" fmla="*/ f24 1 1156726"/>
                <a:gd name="f33" fmla="*/ f25 1 809708"/>
                <a:gd name="f34" fmla="*/ f26 1 809708"/>
                <a:gd name="f35" fmla="*/ f27 1 1156726"/>
                <a:gd name="f36" fmla="*/ f5 1 f19"/>
                <a:gd name="f37" fmla="*/ f6 1 f19"/>
                <a:gd name="f38" fmla="*/ f5 1 f20"/>
                <a:gd name="f39" fmla="*/ f7 1 f20"/>
                <a:gd name="f40" fmla="+- f28 0 f1"/>
                <a:gd name="f41" fmla="*/ f29 1 f19"/>
                <a:gd name="f42" fmla="*/ f30 1 f20"/>
                <a:gd name="f43" fmla="*/ f31 1 f19"/>
                <a:gd name="f44" fmla="*/ f32 1 f19"/>
                <a:gd name="f45" fmla="*/ f33 1 f20"/>
                <a:gd name="f46" fmla="*/ f34 1 f20"/>
                <a:gd name="f47" fmla="*/ f35 1 f19"/>
                <a:gd name="f48" fmla="*/ f36 f14 1"/>
                <a:gd name="f49" fmla="*/ f37 f14 1"/>
                <a:gd name="f50" fmla="*/ f39 f15 1"/>
                <a:gd name="f51" fmla="*/ f38 f15 1"/>
                <a:gd name="f52" fmla="*/ f41 f14 1"/>
                <a:gd name="f53" fmla="*/ f42 f15 1"/>
                <a:gd name="f54" fmla="*/ f43 f14 1"/>
                <a:gd name="f55" fmla="*/ f44 f14 1"/>
                <a:gd name="f56" fmla="*/ f45 f15 1"/>
                <a:gd name="f57" fmla="*/ f46 f15 1"/>
                <a:gd name="f58" fmla="*/ f47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2" y="f53"/>
                </a:cxn>
                <a:cxn ang="f40">
                  <a:pos x="f54" y="f53"/>
                </a:cxn>
                <a:cxn ang="f40">
                  <a:pos x="f55" y="f56"/>
                </a:cxn>
                <a:cxn ang="f40">
                  <a:pos x="f54" y="f57"/>
                </a:cxn>
                <a:cxn ang="f40">
                  <a:pos x="f52" y="f57"/>
                </a:cxn>
                <a:cxn ang="f40">
                  <a:pos x="f58" y="f56"/>
                </a:cxn>
                <a:cxn ang="f40">
                  <a:pos x="f52" y="f53"/>
                </a:cxn>
              </a:cxnLst>
              <a:rect l="f48" t="f51" r="f49" b="f50"/>
              <a:pathLst>
                <a:path w="1156726" h="809708">
                  <a:moveTo>
                    <a:pt x="f8" y="f5"/>
                  </a:moveTo>
                  <a:lnTo>
                    <a:pt x="f8" y="f9"/>
                  </a:lnTo>
                  <a:lnTo>
                    <a:pt x="f10" y="f7"/>
                  </a:lnTo>
                  <a:lnTo>
                    <a:pt x="f11" y="f9"/>
                  </a:lnTo>
                  <a:lnTo>
                    <a:pt x="f11" y="f5"/>
                  </a:lnTo>
                  <a:lnTo>
                    <a:pt x="f10" y="f12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4472C4"/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5715" tIns="410565" rIns="5715" bIns="410565" anchor="ctr" anchorCtr="1" compatLnSpc="1">
              <a:noAutofit/>
            </a:bodyPr>
            <a:lstStyle/>
            <a:p>
              <a:pPr marL="0" marR="0" lvl="0" indent="0" algn="ctr" defTabSz="40005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4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Preprocessing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EC0E5AE-20CF-1B73-2987-03960D87BAAC}"/>
                </a:ext>
              </a:extLst>
            </p:cNvPr>
            <p:cNvSpPr/>
            <p:nvPr/>
          </p:nvSpPr>
          <p:spPr>
            <a:xfrm>
              <a:off x="2946013" y="1304135"/>
              <a:ext cx="8751320" cy="85040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1871"/>
                <a:gd name="f7" fmla="val 7974606"/>
                <a:gd name="f8" fmla="val 1329128"/>
                <a:gd name="f9" fmla="val 6645478"/>
                <a:gd name="f10" fmla="val 7379532"/>
                <a:gd name="f11" fmla="val 746581"/>
                <a:gd name="f12" fmla="val 7974601"/>
                <a:gd name="f13" fmla="val 740056"/>
                <a:gd name="f14" fmla="val 5"/>
                <a:gd name="f15" fmla="val 595074"/>
                <a:gd name="f16" fmla="+- 0 0 -90"/>
                <a:gd name="f17" fmla="*/ f3 1 751871"/>
                <a:gd name="f18" fmla="*/ f4 1 7974606"/>
                <a:gd name="f19" fmla="+- f7 0 f5"/>
                <a:gd name="f20" fmla="+- f6 0 f5"/>
                <a:gd name="f21" fmla="*/ f16 f0 1"/>
                <a:gd name="f22" fmla="*/ f20 1 751871"/>
                <a:gd name="f23" fmla="*/ f19 1 7974606"/>
                <a:gd name="f24" fmla="*/ 125314 f20 1"/>
                <a:gd name="f25" fmla="*/ 0 f19 1"/>
                <a:gd name="f26" fmla="*/ 626557 f20 1"/>
                <a:gd name="f27" fmla="*/ 751871 f20 1"/>
                <a:gd name="f28" fmla="*/ 125314 f19 1"/>
                <a:gd name="f29" fmla="*/ 7974606 f19 1"/>
                <a:gd name="f30" fmla="*/ 0 f20 1"/>
                <a:gd name="f31" fmla="*/ f21 1 f2"/>
                <a:gd name="f32" fmla="*/ f24 1 751871"/>
                <a:gd name="f33" fmla="*/ f25 1 7974606"/>
                <a:gd name="f34" fmla="*/ f26 1 751871"/>
                <a:gd name="f35" fmla="*/ f27 1 751871"/>
                <a:gd name="f36" fmla="*/ f28 1 7974606"/>
                <a:gd name="f37" fmla="*/ f29 1 7974606"/>
                <a:gd name="f38" fmla="*/ f30 1 751871"/>
                <a:gd name="f39" fmla="*/ f5 1 f22"/>
                <a:gd name="f40" fmla="*/ f6 1 f22"/>
                <a:gd name="f41" fmla="*/ f5 1 f23"/>
                <a:gd name="f42" fmla="*/ f7 1 f23"/>
                <a:gd name="f43" fmla="+- f31 0 f1"/>
                <a:gd name="f44" fmla="*/ f32 1 f22"/>
                <a:gd name="f45" fmla="*/ f33 1 f23"/>
                <a:gd name="f46" fmla="*/ f34 1 f22"/>
                <a:gd name="f47" fmla="*/ f35 1 f22"/>
                <a:gd name="f48" fmla="*/ f36 1 f23"/>
                <a:gd name="f49" fmla="*/ f37 1 f23"/>
                <a:gd name="f50" fmla="*/ f38 1 f22"/>
                <a:gd name="f51" fmla="*/ f39 f17 1"/>
                <a:gd name="f52" fmla="*/ f40 f17 1"/>
                <a:gd name="f53" fmla="*/ f42 f18 1"/>
                <a:gd name="f54" fmla="*/ f41 f18 1"/>
                <a:gd name="f55" fmla="*/ f44 f17 1"/>
                <a:gd name="f56" fmla="*/ f45 f18 1"/>
                <a:gd name="f57" fmla="*/ f46 f17 1"/>
                <a:gd name="f58" fmla="*/ f47 f17 1"/>
                <a:gd name="f59" fmla="*/ f48 f18 1"/>
                <a:gd name="f60" fmla="*/ f49 f18 1"/>
                <a:gd name="f61" fmla="*/ f50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5" y="f56"/>
                </a:cxn>
                <a:cxn ang="f43">
                  <a:pos x="f57" y="f56"/>
                </a:cxn>
                <a:cxn ang="f43">
                  <a:pos x="f58" y="f59"/>
                </a:cxn>
                <a:cxn ang="f43">
                  <a:pos x="f58" y="f60"/>
                </a:cxn>
                <a:cxn ang="f43">
                  <a:pos x="f58" y="f60"/>
                </a:cxn>
                <a:cxn ang="f43">
                  <a:pos x="f61" y="f60"/>
                </a:cxn>
                <a:cxn ang="f43">
                  <a:pos x="f61" y="f60"/>
                </a:cxn>
                <a:cxn ang="f43">
                  <a:pos x="f61" y="f59"/>
                </a:cxn>
                <a:cxn ang="f43">
                  <a:pos x="f55" y="f56"/>
                </a:cxn>
              </a:cxnLst>
              <a:rect l="f51" t="f54" r="f52" b="f53"/>
              <a:pathLst>
                <a:path w="751871" h="7974606">
                  <a:moveTo>
                    <a:pt x="f6" y="f8"/>
                  </a:moveTo>
                  <a:lnTo>
                    <a:pt x="f6" y="f9"/>
                  </a:lnTo>
                  <a:cubicBezTo>
                    <a:pt x="f6" y="f10"/>
                    <a:pt x="f11" y="f12"/>
                    <a:pt x="f13" y="f12"/>
                  </a:cubicBezTo>
                  <a:lnTo>
                    <a:pt x="f5" y="f12"/>
                  </a:lnTo>
                  <a:lnTo>
                    <a:pt x="f5" y="f12"/>
                  </a:lnTo>
                  <a:lnTo>
                    <a:pt x="f5" y="f14"/>
                  </a:lnTo>
                  <a:lnTo>
                    <a:pt x="f5" y="f14"/>
                  </a:lnTo>
                  <a:lnTo>
                    <a:pt x="f13" y="f14"/>
                  </a:lnTo>
                  <a:cubicBezTo>
                    <a:pt x="f11" y="f14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99569" tIns="45591" rIns="45591" bIns="45591" anchor="ctr" anchorCtr="0" compatLnSpc="1">
              <a:noAutofit/>
            </a:bodyPr>
            <a:lstStyle/>
            <a:p>
              <a:pPr marL="114300" lvl="1" indent="-114300" defTabSz="622304">
                <a:lnSpc>
                  <a:spcPct val="90000"/>
                </a:lnSpc>
                <a:spcAft>
                  <a:spcPts val="300"/>
                </a:spcAft>
                <a:buSzPct val="100000"/>
                <a:buChar char="•"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400">
                  <a:solidFill>
                    <a:srgbClr val="002060"/>
                  </a:solidFill>
                  <a:latin typeface="Verdana"/>
                  <a:ea typeface="Verdana"/>
                </a:rPr>
                <a:t>Data </a:t>
              </a:r>
              <a:r>
                <a:rPr lang="tr-TR" sz="1400" err="1">
                  <a:solidFill>
                    <a:srgbClr val="002060"/>
                  </a:solidFill>
                  <a:latin typeface="Verdana"/>
                  <a:ea typeface="Verdana"/>
                </a:rPr>
                <a:t>cleaning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and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missing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value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correction</a:t>
              </a:r>
              <a:endParaRPr lang="en-US" err="1"/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Handling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class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imbalance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using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SMOTE (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Synthetic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Minority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Oversampling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Technique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)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Implementation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of PCA (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Principal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Component Analysis)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for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Feature</a:t>
              </a: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</a:t>
              </a:r>
              <a:r>
                <a:rPr lang="tr-TR" sz="1400" b="0" i="0" u="none" strike="noStrike" kern="1200" cap="none" spc="0" baseline="0" err="1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Engineering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4D5EA4-6FC2-CA34-B5D6-47B940BA9E17}"/>
                </a:ext>
              </a:extLst>
            </p:cNvPr>
            <p:cNvSpPr/>
            <p:nvPr/>
          </p:nvSpPr>
          <p:spPr>
            <a:xfrm>
              <a:off x="2057445" y="2444995"/>
              <a:ext cx="888577" cy="13083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56726"/>
                <a:gd name="f7" fmla="val 809708"/>
                <a:gd name="f8" fmla="val 1156725"/>
                <a:gd name="f9" fmla="val 526310"/>
                <a:gd name="f10" fmla="val 578363"/>
                <a:gd name="f11" fmla="val 1"/>
                <a:gd name="f12" fmla="val 283398"/>
                <a:gd name="f13" fmla="+- 0 0 -90"/>
                <a:gd name="f14" fmla="*/ f3 1 1156726"/>
                <a:gd name="f15" fmla="*/ f4 1 809708"/>
                <a:gd name="f16" fmla="+- f7 0 f5"/>
                <a:gd name="f17" fmla="+- f6 0 f5"/>
                <a:gd name="f18" fmla="*/ f13 f0 1"/>
                <a:gd name="f19" fmla="*/ f17 1 1156726"/>
                <a:gd name="f20" fmla="*/ f16 1 809708"/>
                <a:gd name="f21" fmla="*/ 0 f17 1"/>
                <a:gd name="f22" fmla="*/ 0 f16 1"/>
                <a:gd name="f23" fmla="*/ 751872 f17 1"/>
                <a:gd name="f24" fmla="*/ 1156726 f17 1"/>
                <a:gd name="f25" fmla="*/ 404854 f16 1"/>
                <a:gd name="f26" fmla="*/ 809708 f16 1"/>
                <a:gd name="f27" fmla="*/ 404854 f17 1"/>
                <a:gd name="f28" fmla="*/ f18 1 f2"/>
                <a:gd name="f29" fmla="*/ f21 1 1156726"/>
                <a:gd name="f30" fmla="*/ f22 1 809708"/>
                <a:gd name="f31" fmla="*/ f23 1 1156726"/>
                <a:gd name="f32" fmla="*/ f24 1 1156726"/>
                <a:gd name="f33" fmla="*/ f25 1 809708"/>
                <a:gd name="f34" fmla="*/ f26 1 809708"/>
                <a:gd name="f35" fmla="*/ f27 1 1156726"/>
                <a:gd name="f36" fmla="*/ f5 1 f19"/>
                <a:gd name="f37" fmla="*/ f6 1 f19"/>
                <a:gd name="f38" fmla="*/ f5 1 f20"/>
                <a:gd name="f39" fmla="*/ f7 1 f20"/>
                <a:gd name="f40" fmla="+- f28 0 f1"/>
                <a:gd name="f41" fmla="*/ f29 1 f19"/>
                <a:gd name="f42" fmla="*/ f30 1 f20"/>
                <a:gd name="f43" fmla="*/ f31 1 f19"/>
                <a:gd name="f44" fmla="*/ f32 1 f19"/>
                <a:gd name="f45" fmla="*/ f33 1 f20"/>
                <a:gd name="f46" fmla="*/ f34 1 f20"/>
                <a:gd name="f47" fmla="*/ f35 1 f19"/>
                <a:gd name="f48" fmla="*/ f36 f14 1"/>
                <a:gd name="f49" fmla="*/ f37 f14 1"/>
                <a:gd name="f50" fmla="*/ f39 f15 1"/>
                <a:gd name="f51" fmla="*/ f38 f15 1"/>
                <a:gd name="f52" fmla="*/ f41 f14 1"/>
                <a:gd name="f53" fmla="*/ f42 f15 1"/>
                <a:gd name="f54" fmla="*/ f43 f14 1"/>
                <a:gd name="f55" fmla="*/ f44 f14 1"/>
                <a:gd name="f56" fmla="*/ f45 f15 1"/>
                <a:gd name="f57" fmla="*/ f46 f15 1"/>
                <a:gd name="f58" fmla="*/ f47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2" y="f53"/>
                </a:cxn>
                <a:cxn ang="f40">
                  <a:pos x="f54" y="f53"/>
                </a:cxn>
                <a:cxn ang="f40">
                  <a:pos x="f55" y="f56"/>
                </a:cxn>
                <a:cxn ang="f40">
                  <a:pos x="f54" y="f57"/>
                </a:cxn>
                <a:cxn ang="f40">
                  <a:pos x="f52" y="f57"/>
                </a:cxn>
                <a:cxn ang="f40">
                  <a:pos x="f58" y="f56"/>
                </a:cxn>
                <a:cxn ang="f40">
                  <a:pos x="f52" y="f53"/>
                </a:cxn>
              </a:cxnLst>
              <a:rect l="f48" t="f51" r="f49" b="f50"/>
              <a:pathLst>
                <a:path w="1156726" h="809708">
                  <a:moveTo>
                    <a:pt x="f8" y="f5"/>
                  </a:moveTo>
                  <a:lnTo>
                    <a:pt x="f8" y="f9"/>
                  </a:lnTo>
                  <a:lnTo>
                    <a:pt x="f10" y="f7"/>
                  </a:lnTo>
                  <a:lnTo>
                    <a:pt x="f11" y="f9"/>
                  </a:lnTo>
                  <a:lnTo>
                    <a:pt x="f11" y="f5"/>
                  </a:lnTo>
                  <a:lnTo>
                    <a:pt x="f10" y="f12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4472C4"/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5715" tIns="410565" rIns="5715" bIns="410565" anchor="ctr" anchorCtr="1" compatLnSpc="1">
              <a:noAutofit/>
            </a:bodyPr>
            <a:lstStyle/>
            <a:p>
              <a:pPr marL="0" marR="0" lvl="0" indent="0" algn="ctr" defTabSz="40005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4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1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Modeling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C7C50E3-BBF1-FEA4-D7B8-C400051D7E27}"/>
                </a:ext>
              </a:extLst>
            </p:cNvPr>
            <p:cNvSpPr/>
            <p:nvPr/>
          </p:nvSpPr>
          <p:spPr>
            <a:xfrm>
              <a:off x="2946013" y="2444995"/>
              <a:ext cx="8751320" cy="85040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1871"/>
                <a:gd name="f7" fmla="val 7974606"/>
                <a:gd name="f8" fmla="val 1329128"/>
                <a:gd name="f9" fmla="val 6645478"/>
                <a:gd name="f10" fmla="val 7379532"/>
                <a:gd name="f11" fmla="val 746581"/>
                <a:gd name="f12" fmla="val 7974601"/>
                <a:gd name="f13" fmla="val 740056"/>
                <a:gd name="f14" fmla="val 5"/>
                <a:gd name="f15" fmla="val 595074"/>
                <a:gd name="f16" fmla="+- 0 0 -90"/>
                <a:gd name="f17" fmla="*/ f3 1 751871"/>
                <a:gd name="f18" fmla="*/ f4 1 7974606"/>
                <a:gd name="f19" fmla="+- f7 0 f5"/>
                <a:gd name="f20" fmla="+- f6 0 f5"/>
                <a:gd name="f21" fmla="*/ f16 f0 1"/>
                <a:gd name="f22" fmla="*/ f20 1 751871"/>
                <a:gd name="f23" fmla="*/ f19 1 7974606"/>
                <a:gd name="f24" fmla="*/ 125314 f20 1"/>
                <a:gd name="f25" fmla="*/ 0 f19 1"/>
                <a:gd name="f26" fmla="*/ 626557 f20 1"/>
                <a:gd name="f27" fmla="*/ 751871 f20 1"/>
                <a:gd name="f28" fmla="*/ 125314 f19 1"/>
                <a:gd name="f29" fmla="*/ 7974606 f19 1"/>
                <a:gd name="f30" fmla="*/ 0 f20 1"/>
                <a:gd name="f31" fmla="*/ f21 1 f2"/>
                <a:gd name="f32" fmla="*/ f24 1 751871"/>
                <a:gd name="f33" fmla="*/ f25 1 7974606"/>
                <a:gd name="f34" fmla="*/ f26 1 751871"/>
                <a:gd name="f35" fmla="*/ f27 1 751871"/>
                <a:gd name="f36" fmla="*/ f28 1 7974606"/>
                <a:gd name="f37" fmla="*/ f29 1 7974606"/>
                <a:gd name="f38" fmla="*/ f30 1 751871"/>
                <a:gd name="f39" fmla="*/ f5 1 f22"/>
                <a:gd name="f40" fmla="*/ f6 1 f22"/>
                <a:gd name="f41" fmla="*/ f5 1 f23"/>
                <a:gd name="f42" fmla="*/ f7 1 f23"/>
                <a:gd name="f43" fmla="+- f31 0 f1"/>
                <a:gd name="f44" fmla="*/ f32 1 f22"/>
                <a:gd name="f45" fmla="*/ f33 1 f23"/>
                <a:gd name="f46" fmla="*/ f34 1 f22"/>
                <a:gd name="f47" fmla="*/ f35 1 f22"/>
                <a:gd name="f48" fmla="*/ f36 1 f23"/>
                <a:gd name="f49" fmla="*/ f37 1 f23"/>
                <a:gd name="f50" fmla="*/ f38 1 f22"/>
                <a:gd name="f51" fmla="*/ f39 f17 1"/>
                <a:gd name="f52" fmla="*/ f40 f17 1"/>
                <a:gd name="f53" fmla="*/ f42 f18 1"/>
                <a:gd name="f54" fmla="*/ f41 f18 1"/>
                <a:gd name="f55" fmla="*/ f44 f17 1"/>
                <a:gd name="f56" fmla="*/ f45 f18 1"/>
                <a:gd name="f57" fmla="*/ f46 f17 1"/>
                <a:gd name="f58" fmla="*/ f47 f17 1"/>
                <a:gd name="f59" fmla="*/ f48 f18 1"/>
                <a:gd name="f60" fmla="*/ f49 f18 1"/>
                <a:gd name="f61" fmla="*/ f50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5" y="f56"/>
                </a:cxn>
                <a:cxn ang="f43">
                  <a:pos x="f57" y="f56"/>
                </a:cxn>
                <a:cxn ang="f43">
                  <a:pos x="f58" y="f59"/>
                </a:cxn>
                <a:cxn ang="f43">
                  <a:pos x="f58" y="f60"/>
                </a:cxn>
                <a:cxn ang="f43">
                  <a:pos x="f58" y="f60"/>
                </a:cxn>
                <a:cxn ang="f43">
                  <a:pos x="f61" y="f60"/>
                </a:cxn>
                <a:cxn ang="f43">
                  <a:pos x="f61" y="f60"/>
                </a:cxn>
                <a:cxn ang="f43">
                  <a:pos x="f61" y="f59"/>
                </a:cxn>
                <a:cxn ang="f43">
                  <a:pos x="f55" y="f56"/>
                </a:cxn>
              </a:cxnLst>
              <a:rect l="f51" t="f54" r="f52" b="f53"/>
              <a:pathLst>
                <a:path w="751871" h="7974606">
                  <a:moveTo>
                    <a:pt x="f6" y="f8"/>
                  </a:moveTo>
                  <a:lnTo>
                    <a:pt x="f6" y="f9"/>
                  </a:lnTo>
                  <a:cubicBezTo>
                    <a:pt x="f6" y="f10"/>
                    <a:pt x="f11" y="f12"/>
                    <a:pt x="f13" y="f12"/>
                  </a:cubicBezTo>
                  <a:lnTo>
                    <a:pt x="f5" y="f12"/>
                  </a:lnTo>
                  <a:lnTo>
                    <a:pt x="f5" y="f12"/>
                  </a:lnTo>
                  <a:lnTo>
                    <a:pt x="f5" y="f14"/>
                  </a:lnTo>
                  <a:lnTo>
                    <a:pt x="f5" y="f14"/>
                  </a:lnTo>
                  <a:lnTo>
                    <a:pt x="f13" y="f14"/>
                  </a:lnTo>
                  <a:cubicBezTo>
                    <a:pt x="f11" y="f14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99569" tIns="45591" rIns="45591" bIns="45591" anchor="ctr" anchorCtr="0" compatLnSpc="1">
              <a:noAutofit/>
            </a:bodyPr>
            <a:lstStyle/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Train Random Forest classifier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Train Deep Learning Model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Sensor data used as input to predict failures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49706BA-375C-599A-56DA-AD870CF1B9EB}"/>
                </a:ext>
              </a:extLst>
            </p:cNvPr>
            <p:cNvSpPr/>
            <p:nvPr/>
          </p:nvSpPr>
          <p:spPr>
            <a:xfrm>
              <a:off x="2057445" y="3585856"/>
              <a:ext cx="888577" cy="13083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56726"/>
                <a:gd name="f7" fmla="val 809708"/>
                <a:gd name="f8" fmla="val 1156725"/>
                <a:gd name="f9" fmla="val 526310"/>
                <a:gd name="f10" fmla="val 578363"/>
                <a:gd name="f11" fmla="val 1"/>
                <a:gd name="f12" fmla="val 283398"/>
                <a:gd name="f13" fmla="+- 0 0 -90"/>
                <a:gd name="f14" fmla="*/ f3 1 1156726"/>
                <a:gd name="f15" fmla="*/ f4 1 809708"/>
                <a:gd name="f16" fmla="+- f7 0 f5"/>
                <a:gd name="f17" fmla="+- f6 0 f5"/>
                <a:gd name="f18" fmla="*/ f13 f0 1"/>
                <a:gd name="f19" fmla="*/ f17 1 1156726"/>
                <a:gd name="f20" fmla="*/ f16 1 809708"/>
                <a:gd name="f21" fmla="*/ 0 f17 1"/>
                <a:gd name="f22" fmla="*/ 0 f16 1"/>
                <a:gd name="f23" fmla="*/ 751872 f17 1"/>
                <a:gd name="f24" fmla="*/ 1156726 f17 1"/>
                <a:gd name="f25" fmla="*/ 404854 f16 1"/>
                <a:gd name="f26" fmla="*/ 809708 f16 1"/>
                <a:gd name="f27" fmla="*/ 404854 f17 1"/>
                <a:gd name="f28" fmla="*/ f18 1 f2"/>
                <a:gd name="f29" fmla="*/ f21 1 1156726"/>
                <a:gd name="f30" fmla="*/ f22 1 809708"/>
                <a:gd name="f31" fmla="*/ f23 1 1156726"/>
                <a:gd name="f32" fmla="*/ f24 1 1156726"/>
                <a:gd name="f33" fmla="*/ f25 1 809708"/>
                <a:gd name="f34" fmla="*/ f26 1 809708"/>
                <a:gd name="f35" fmla="*/ f27 1 1156726"/>
                <a:gd name="f36" fmla="*/ f5 1 f19"/>
                <a:gd name="f37" fmla="*/ f6 1 f19"/>
                <a:gd name="f38" fmla="*/ f5 1 f20"/>
                <a:gd name="f39" fmla="*/ f7 1 f20"/>
                <a:gd name="f40" fmla="+- f28 0 f1"/>
                <a:gd name="f41" fmla="*/ f29 1 f19"/>
                <a:gd name="f42" fmla="*/ f30 1 f20"/>
                <a:gd name="f43" fmla="*/ f31 1 f19"/>
                <a:gd name="f44" fmla="*/ f32 1 f19"/>
                <a:gd name="f45" fmla="*/ f33 1 f20"/>
                <a:gd name="f46" fmla="*/ f34 1 f20"/>
                <a:gd name="f47" fmla="*/ f35 1 f19"/>
                <a:gd name="f48" fmla="*/ f36 f14 1"/>
                <a:gd name="f49" fmla="*/ f37 f14 1"/>
                <a:gd name="f50" fmla="*/ f39 f15 1"/>
                <a:gd name="f51" fmla="*/ f38 f15 1"/>
                <a:gd name="f52" fmla="*/ f41 f14 1"/>
                <a:gd name="f53" fmla="*/ f42 f15 1"/>
                <a:gd name="f54" fmla="*/ f43 f14 1"/>
                <a:gd name="f55" fmla="*/ f44 f14 1"/>
                <a:gd name="f56" fmla="*/ f45 f15 1"/>
                <a:gd name="f57" fmla="*/ f46 f15 1"/>
                <a:gd name="f58" fmla="*/ f47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2" y="f53"/>
                </a:cxn>
                <a:cxn ang="f40">
                  <a:pos x="f54" y="f53"/>
                </a:cxn>
                <a:cxn ang="f40">
                  <a:pos x="f55" y="f56"/>
                </a:cxn>
                <a:cxn ang="f40">
                  <a:pos x="f54" y="f57"/>
                </a:cxn>
                <a:cxn ang="f40">
                  <a:pos x="f52" y="f57"/>
                </a:cxn>
                <a:cxn ang="f40">
                  <a:pos x="f58" y="f56"/>
                </a:cxn>
                <a:cxn ang="f40">
                  <a:pos x="f52" y="f53"/>
                </a:cxn>
              </a:cxnLst>
              <a:rect l="f48" t="f51" r="f49" b="f50"/>
              <a:pathLst>
                <a:path w="1156726" h="809708">
                  <a:moveTo>
                    <a:pt x="f8" y="f5"/>
                  </a:moveTo>
                  <a:lnTo>
                    <a:pt x="f8" y="f9"/>
                  </a:lnTo>
                  <a:lnTo>
                    <a:pt x="f10" y="f7"/>
                  </a:lnTo>
                  <a:lnTo>
                    <a:pt x="f11" y="f9"/>
                  </a:lnTo>
                  <a:lnTo>
                    <a:pt x="f11" y="f5"/>
                  </a:lnTo>
                  <a:lnTo>
                    <a:pt x="f10" y="f12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4472C4"/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5715" tIns="410565" rIns="5715" bIns="410565" anchor="ctr" anchorCtr="1" compatLnSpc="1">
              <a:noAutofit/>
            </a:bodyPr>
            <a:lstStyle/>
            <a:p>
              <a:pPr marL="0" marR="0" lvl="0" indent="0" algn="ctr" defTabSz="40005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4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1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Validation</a:t>
              </a: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0F87AFF-9D23-83B3-CB4D-83593D3E2AB8}"/>
                </a:ext>
              </a:extLst>
            </p:cNvPr>
            <p:cNvSpPr/>
            <p:nvPr/>
          </p:nvSpPr>
          <p:spPr>
            <a:xfrm>
              <a:off x="2946013" y="3585856"/>
              <a:ext cx="8751320" cy="85040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1871"/>
                <a:gd name="f7" fmla="val 7974606"/>
                <a:gd name="f8" fmla="val 1329128"/>
                <a:gd name="f9" fmla="val 6645478"/>
                <a:gd name="f10" fmla="val 7379532"/>
                <a:gd name="f11" fmla="val 746581"/>
                <a:gd name="f12" fmla="val 7974601"/>
                <a:gd name="f13" fmla="val 740056"/>
                <a:gd name="f14" fmla="val 5"/>
                <a:gd name="f15" fmla="val 595074"/>
                <a:gd name="f16" fmla="+- 0 0 -90"/>
                <a:gd name="f17" fmla="*/ f3 1 751871"/>
                <a:gd name="f18" fmla="*/ f4 1 7974606"/>
                <a:gd name="f19" fmla="+- f7 0 f5"/>
                <a:gd name="f20" fmla="+- f6 0 f5"/>
                <a:gd name="f21" fmla="*/ f16 f0 1"/>
                <a:gd name="f22" fmla="*/ f20 1 751871"/>
                <a:gd name="f23" fmla="*/ f19 1 7974606"/>
                <a:gd name="f24" fmla="*/ 125314 f20 1"/>
                <a:gd name="f25" fmla="*/ 0 f19 1"/>
                <a:gd name="f26" fmla="*/ 626557 f20 1"/>
                <a:gd name="f27" fmla="*/ 751871 f20 1"/>
                <a:gd name="f28" fmla="*/ 125314 f19 1"/>
                <a:gd name="f29" fmla="*/ 7974606 f19 1"/>
                <a:gd name="f30" fmla="*/ 0 f20 1"/>
                <a:gd name="f31" fmla="*/ f21 1 f2"/>
                <a:gd name="f32" fmla="*/ f24 1 751871"/>
                <a:gd name="f33" fmla="*/ f25 1 7974606"/>
                <a:gd name="f34" fmla="*/ f26 1 751871"/>
                <a:gd name="f35" fmla="*/ f27 1 751871"/>
                <a:gd name="f36" fmla="*/ f28 1 7974606"/>
                <a:gd name="f37" fmla="*/ f29 1 7974606"/>
                <a:gd name="f38" fmla="*/ f30 1 751871"/>
                <a:gd name="f39" fmla="*/ f5 1 f22"/>
                <a:gd name="f40" fmla="*/ f6 1 f22"/>
                <a:gd name="f41" fmla="*/ f5 1 f23"/>
                <a:gd name="f42" fmla="*/ f7 1 f23"/>
                <a:gd name="f43" fmla="+- f31 0 f1"/>
                <a:gd name="f44" fmla="*/ f32 1 f22"/>
                <a:gd name="f45" fmla="*/ f33 1 f23"/>
                <a:gd name="f46" fmla="*/ f34 1 f22"/>
                <a:gd name="f47" fmla="*/ f35 1 f22"/>
                <a:gd name="f48" fmla="*/ f36 1 f23"/>
                <a:gd name="f49" fmla="*/ f37 1 f23"/>
                <a:gd name="f50" fmla="*/ f38 1 f22"/>
                <a:gd name="f51" fmla="*/ f39 f17 1"/>
                <a:gd name="f52" fmla="*/ f40 f17 1"/>
                <a:gd name="f53" fmla="*/ f42 f18 1"/>
                <a:gd name="f54" fmla="*/ f41 f18 1"/>
                <a:gd name="f55" fmla="*/ f44 f17 1"/>
                <a:gd name="f56" fmla="*/ f45 f18 1"/>
                <a:gd name="f57" fmla="*/ f46 f17 1"/>
                <a:gd name="f58" fmla="*/ f47 f17 1"/>
                <a:gd name="f59" fmla="*/ f48 f18 1"/>
                <a:gd name="f60" fmla="*/ f49 f18 1"/>
                <a:gd name="f61" fmla="*/ f50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5" y="f56"/>
                </a:cxn>
                <a:cxn ang="f43">
                  <a:pos x="f57" y="f56"/>
                </a:cxn>
                <a:cxn ang="f43">
                  <a:pos x="f58" y="f59"/>
                </a:cxn>
                <a:cxn ang="f43">
                  <a:pos x="f58" y="f60"/>
                </a:cxn>
                <a:cxn ang="f43">
                  <a:pos x="f58" y="f60"/>
                </a:cxn>
                <a:cxn ang="f43">
                  <a:pos x="f61" y="f60"/>
                </a:cxn>
                <a:cxn ang="f43">
                  <a:pos x="f61" y="f60"/>
                </a:cxn>
                <a:cxn ang="f43">
                  <a:pos x="f61" y="f59"/>
                </a:cxn>
                <a:cxn ang="f43">
                  <a:pos x="f55" y="f56"/>
                </a:cxn>
              </a:cxnLst>
              <a:rect l="f51" t="f54" r="f52" b="f53"/>
              <a:pathLst>
                <a:path w="751871" h="7974606">
                  <a:moveTo>
                    <a:pt x="f6" y="f8"/>
                  </a:moveTo>
                  <a:lnTo>
                    <a:pt x="f6" y="f9"/>
                  </a:lnTo>
                  <a:cubicBezTo>
                    <a:pt x="f6" y="f10"/>
                    <a:pt x="f11" y="f12"/>
                    <a:pt x="f13" y="f12"/>
                  </a:cubicBezTo>
                  <a:lnTo>
                    <a:pt x="f5" y="f12"/>
                  </a:lnTo>
                  <a:lnTo>
                    <a:pt x="f5" y="f12"/>
                  </a:lnTo>
                  <a:lnTo>
                    <a:pt x="f5" y="f14"/>
                  </a:lnTo>
                  <a:lnTo>
                    <a:pt x="f5" y="f14"/>
                  </a:lnTo>
                  <a:lnTo>
                    <a:pt x="f13" y="f14"/>
                  </a:lnTo>
                  <a:cubicBezTo>
                    <a:pt x="f11" y="f14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99569" tIns="45591" rIns="45591" bIns="45591" anchor="ctr" anchorCtr="0" compatLnSpc="1">
              <a:noAutofit/>
            </a:bodyPr>
            <a:lstStyle/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Evaluate model performance using Accuracy, Precision, Recall, F1-score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Confusion matrix shows which failures are predicted well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0900CAD-6F64-0DE7-7C26-B2279F553567}"/>
                </a:ext>
              </a:extLst>
            </p:cNvPr>
            <p:cNvSpPr/>
            <p:nvPr/>
          </p:nvSpPr>
          <p:spPr>
            <a:xfrm>
              <a:off x="2057445" y="4726707"/>
              <a:ext cx="888577" cy="13083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56726"/>
                <a:gd name="f7" fmla="val 809708"/>
                <a:gd name="f8" fmla="val 1156725"/>
                <a:gd name="f9" fmla="val 526310"/>
                <a:gd name="f10" fmla="val 578363"/>
                <a:gd name="f11" fmla="val 1"/>
                <a:gd name="f12" fmla="val 283398"/>
                <a:gd name="f13" fmla="+- 0 0 -90"/>
                <a:gd name="f14" fmla="*/ f3 1 1156726"/>
                <a:gd name="f15" fmla="*/ f4 1 809708"/>
                <a:gd name="f16" fmla="+- f7 0 f5"/>
                <a:gd name="f17" fmla="+- f6 0 f5"/>
                <a:gd name="f18" fmla="*/ f13 f0 1"/>
                <a:gd name="f19" fmla="*/ f17 1 1156726"/>
                <a:gd name="f20" fmla="*/ f16 1 809708"/>
                <a:gd name="f21" fmla="*/ 0 f17 1"/>
                <a:gd name="f22" fmla="*/ 0 f16 1"/>
                <a:gd name="f23" fmla="*/ 751872 f17 1"/>
                <a:gd name="f24" fmla="*/ 1156726 f17 1"/>
                <a:gd name="f25" fmla="*/ 404854 f16 1"/>
                <a:gd name="f26" fmla="*/ 809708 f16 1"/>
                <a:gd name="f27" fmla="*/ 404854 f17 1"/>
                <a:gd name="f28" fmla="*/ f18 1 f2"/>
                <a:gd name="f29" fmla="*/ f21 1 1156726"/>
                <a:gd name="f30" fmla="*/ f22 1 809708"/>
                <a:gd name="f31" fmla="*/ f23 1 1156726"/>
                <a:gd name="f32" fmla="*/ f24 1 1156726"/>
                <a:gd name="f33" fmla="*/ f25 1 809708"/>
                <a:gd name="f34" fmla="*/ f26 1 809708"/>
                <a:gd name="f35" fmla="*/ f27 1 1156726"/>
                <a:gd name="f36" fmla="*/ f5 1 f19"/>
                <a:gd name="f37" fmla="*/ f6 1 f19"/>
                <a:gd name="f38" fmla="*/ f5 1 f20"/>
                <a:gd name="f39" fmla="*/ f7 1 f20"/>
                <a:gd name="f40" fmla="+- f28 0 f1"/>
                <a:gd name="f41" fmla="*/ f29 1 f19"/>
                <a:gd name="f42" fmla="*/ f30 1 f20"/>
                <a:gd name="f43" fmla="*/ f31 1 f19"/>
                <a:gd name="f44" fmla="*/ f32 1 f19"/>
                <a:gd name="f45" fmla="*/ f33 1 f20"/>
                <a:gd name="f46" fmla="*/ f34 1 f20"/>
                <a:gd name="f47" fmla="*/ f35 1 f19"/>
                <a:gd name="f48" fmla="*/ f36 f14 1"/>
                <a:gd name="f49" fmla="*/ f37 f14 1"/>
                <a:gd name="f50" fmla="*/ f39 f15 1"/>
                <a:gd name="f51" fmla="*/ f38 f15 1"/>
                <a:gd name="f52" fmla="*/ f41 f14 1"/>
                <a:gd name="f53" fmla="*/ f42 f15 1"/>
                <a:gd name="f54" fmla="*/ f43 f14 1"/>
                <a:gd name="f55" fmla="*/ f44 f14 1"/>
                <a:gd name="f56" fmla="*/ f45 f15 1"/>
                <a:gd name="f57" fmla="*/ f46 f15 1"/>
                <a:gd name="f58" fmla="*/ f47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2" y="f53"/>
                </a:cxn>
                <a:cxn ang="f40">
                  <a:pos x="f54" y="f53"/>
                </a:cxn>
                <a:cxn ang="f40">
                  <a:pos x="f55" y="f56"/>
                </a:cxn>
                <a:cxn ang="f40">
                  <a:pos x="f54" y="f57"/>
                </a:cxn>
                <a:cxn ang="f40">
                  <a:pos x="f52" y="f57"/>
                </a:cxn>
                <a:cxn ang="f40">
                  <a:pos x="f58" y="f56"/>
                </a:cxn>
                <a:cxn ang="f40">
                  <a:pos x="f52" y="f53"/>
                </a:cxn>
              </a:cxnLst>
              <a:rect l="f48" t="f51" r="f49" b="f50"/>
              <a:pathLst>
                <a:path w="1156726" h="809708">
                  <a:moveTo>
                    <a:pt x="f8" y="f5"/>
                  </a:moveTo>
                  <a:lnTo>
                    <a:pt x="f8" y="f9"/>
                  </a:lnTo>
                  <a:lnTo>
                    <a:pt x="f10" y="f7"/>
                  </a:lnTo>
                  <a:lnTo>
                    <a:pt x="f11" y="f9"/>
                  </a:lnTo>
                  <a:lnTo>
                    <a:pt x="f11" y="f5"/>
                  </a:lnTo>
                  <a:lnTo>
                    <a:pt x="f10" y="f12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4472C4"/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5715" tIns="410565" rIns="5715" bIns="410565" anchor="ctr" anchorCtr="1" compatLnSpc="1">
              <a:noAutofit/>
            </a:bodyPr>
            <a:lstStyle/>
            <a:p>
              <a:pPr marL="0" marR="0" lvl="0" indent="0" algn="ctr" defTabSz="40005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4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1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Deployment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ED8D05-A508-0521-8C75-52E7535E245B}"/>
                </a:ext>
              </a:extLst>
            </p:cNvPr>
            <p:cNvSpPr/>
            <p:nvPr/>
          </p:nvSpPr>
          <p:spPr>
            <a:xfrm>
              <a:off x="2946013" y="4726707"/>
              <a:ext cx="8751320" cy="85040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1871"/>
                <a:gd name="f7" fmla="val 7974606"/>
                <a:gd name="f8" fmla="val 1329128"/>
                <a:gd name="f9" fmla="val 6645478"/>
                <a:gd name="f10" fmla="val 7379532"/>
                <a:gd name="f11" fmla="val 746581"/>
                <a:gd name="f12" fmla="val 7974601"/>
                <a:gd name="f13" fmla="val 740056"/>
                <a:gd name="f14" fmla="val 5"/>
                <a:gd name="f15" fmla="val 595074"/>
                <a:gd name="f16" fmla="+- 0 0 -90"/>
                <a:gd name="f17" fmla="*/ f3 1 751871"/>
                <a:gd name="f18" fmla="*/ f4 1 7974606"/>
                <a:gd name="f19" fmla="+- f7 0 f5"/>
                <a:gd name="f20" fmla="+- f6 0 f5"/>
                <a:gd name="f21" fmla="*/ f16 f0 1"/>
                <a:gd name="f22" fmla="*/ f20 1 751871"/>
                <a:gd name="f23" fmla="*/ f19 1 7974606"/>
                <a:gd name="f24" fmla="*/ 125314 f20 1"/>
                <a:gd name="f25" fmla="*/ 0 f19 1"/>
                <a:gd name="f26" fmla="*/ 626557 f20 1"/>
                <a:gd name="f27" fmla="*/ 751871 f20 1"/>
                <a:gd name="f28" fmla="*/ 125314 f19 1"/>
                <a:gd name="f29" fmla="*/ 7974606 f19 1"/>
                <a:gd name="f30" fmla="*/ 0 f20 1"/>
                <a:gd name="f31" fmla="*/ f21 1 f2"/>
                <a:gd name="f32" fmla="*/ f24 1 751871"/>
                <a:gd name="f33" fmla="*/ f25 1 7974606"/>
                <a:gd name="f34" fmla="*/ f26 1 751871"/>
                <a:gd name="f35" fmla="*/ f27 1 751871"/>
                <a:gd name="f36" fmla="*/ f28 1 7974606"/>
                <a:gd name="f37" fmla="*/ f29 1 7974606"/>
                <a:gd name="f38" fmla="*/ f30 1 751871"/>
                <a:gd name="f39" fmla="*/ f5 1 f22"/>
                <a:gd name="f40" fmla="*/ f6 1 f22"/>
                <a:gd name="f41" fmla="*/ f5 1 f23"/>
                <a:gd name="f42" fmla="*/ f7 1 f23"/>
                <a:gd name="f43" fmla="+- f31 0 f1"/>
                <a:gd name="f44" fmla="*/ f32 1 f22"/>
                <a:gd name="f45" fmla="*/ f33 1 f23"/>
                <a:gd name="f46" fmla="*/ f34 1 f22"/>
                <a:gd name="f47" fmla="*/ f35 1 f22"/>
                <a:gd name="f48" fmla="*/ f36 1 f23"/>
                <a:gd name="f49" fmla="*/ f37 1 f23"/>
                <a:gd name="f50" fmla="*/ f38 1 f22"/>
                <a:gd name="f51" fmla="*/ f39 f17 1"/>
                <a:gd name="f52" fmla="*/ f40 f17 1"/>
                <a:gd name="f53" fmla="*/ f42 f18 1"/>
                <a:gd name="f54" fmla="*/ f41 f18 1"/>
                <a:gd name="f55" fmla="*/ f44 f17 1"/>
                <a:gd name="f56" fmla="*/ f45 f18 1"/>
                <a:gd name="f57" fmla="*/ f46 f17 1"/>
                <a:gd name="f58" fmla="*/ f47 f17 1"/>
                <a:gd name="f59" fmla="*/ f48 f18 1"/>
                <a:gd name="f60" fmla="*/ f49 f18 1"/>
                <a:gd name="f61" fmla="*/ f50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5" y="f56"/>
                </a:cxn>
                <a:cxn ang="f43">
                  <a:pos x="f57" y="f56"/>
                </a:cxn>
                <a:cxn ang="f43">
                  <a:pos x="f58" y="f59"/>
                </a:cxn>
                <a:cxn ang="f43">
                  <a:pos x="f58" y="f60"/>
                </a:cxn>
                <a:cxn ang="f43">
                  <a:pos x="f58" y="f60"/>
                </a:cxn>
                <a:cxn ang="f43">
                  <a:pos x="f61" y="f60"/>
                </a:cxn>
                <a:cxn ang="f43">
                  <a:pos x="f61" y="f60"/>
                </a:cxn>
                <a:cxn ang="f43">
                  <a:pos x="f61" y="f59"/>
                </a:cxn>
                <a:cxn ang="f43">
                  <a:pos x="f55" y="f56"/>
                </a:cxn>
              </a:cxnLst>
              <a:rect l="f51" t="f54" r="f52" b="f53"/>
              <a:pathLst>
                <a:path w="751871" h="7974606">
                  <a:moveTo>
                    <a:pt x="f6" y="f8"/>
                  </a:moveTo>
                  <a:lnTo>
                    <a:pt x="f6" y="f9"/>
                  </a:lnTo>
                  <a:cubicBezTo>
                    <a:pt x="f6" y="f10"/>
                    <a:pt x="f11" y="f12"/>
                    <a:pt x="f13" y="f12"/>
                  </a:cubicBezTo>
                  <a:lnTo>
                    <a:pt x="f5" y="f12"/>
                  </a:lnTo>
                  <a:lnTo>
                    <a:pt x="f5" y="f12"/>
                  </a:lnTo>
                  <a:lnTo>
                    <a:pt x="f5" y="f14"/>
                  </a:lnTo>
                  <a:lnTo>
                    <a:pt x="f5" y="f14"/>
                  </a:lnTo>
                  <a:lnTo>
                    <a:pt x="f13" y="f14"/>
                  </a:lnTo>
                  <a:cubicBezTo>
                    <a:pt x="f11" y="f14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99569" tIns="45591" rIns="45591" bIns="45591" anchor="ctr" anchorCtr="0" compatLnSpc="1">
              <a:noAutofit/>
            </a:bodyPr>
            <a:lstStyle/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Predictions</a:t>
              </a: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displayed on a Streamlit dashboard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User-friendly and easy to monitor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9A583-8B09-12FD-7CF9-21E9B4D4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FBA000-EBBA-B921-48B1-E50B5125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225B9D-3078-EBA8-5C11-F02C5DA3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7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22558853-3D99-E8E2-9177-624A44508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 err="1">
                <a:latin typeface="Verdana"/>
                <a:ea typeface="Verdana"/>
              </a:rPr>
              <a:t>Results</a:t>
            </a:r>
            <a:r>
              <a:rPr lang="de-DE" sz="2400">
                <a:latin typeface="Verdana"/>
                <a:ea typeface="Verdana"/>
              </a:rPr>
              <a:t>: Random Forest</a:t>
            </a:r>
            <a:endParaRPr lang="de-DE" sz="24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FEF259-33D0-A04E-F638-7753FED4DD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599" y="1248837"/>
            <a:ext cx="10880241" cy="5466838"/>
          </a:xfrm>
        </p:spPr>
        <p:txBody>
          <a:bodyPr numCol="1" anchor="t">
            <a:normAutofit/>
          </a:bodyPr>
          <a:lstStyle/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Selected Random Forest as the </a:t>
            </a:r>
            <a:r>
              <a:rPr lang="en-US" sz="1600" b="1">
                <a:latin typeface="Verdana"/>
                <a:ea typeface="Verdana"/>
              </a:rPr>
              <a:t>baseline</a:t>
            </a:r>
            <a:r>
              <a:rPr lang="en-US" sz="1600">
                <a:latin typeface="Verdana"/>
                <a:ea typeface="Verdana"/>
              </a:rPr>
              <a:t> due to strong performance in </a:t>
            </a:r>
            <a:r>
              <a:rPr lang="en-US" sz="1600" err="1">
                <a:latin typeface="Verdana"/>
                <a:ea typeface="Verdana"/>
              </a:rPr>
              <a:t>PdM</a:t>
            </a:r>
            <a:r>
              <a:rPr lang="en-US" sz="1600">
                <a:latin typeface="Verdana"/>
                <a:ea typeface="Verdana"/>
              </a:rPr>
              <a:t> literature.</a:t>
            </a:r>
            <a:endParaRPr lang="en-US" sz="1600"/>
          </a:p>
          <a:p>
            <a:pPr marL="0" indent="0">
              <a:buNone/>
            </a:pPr>
            <a:endParaRPr lang="en-US" sz="16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endParaRPr lang="en-US" sz="1600"/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 marL="0" indent="0">
              <a:buNone/>
            </a:pPr>
            <a:endParaRPr lang="en-US" sz="1400" b="1"/>
          </a:p>
        </p:txBody>
      </p:sp>
      <p:pic>
        <p:nvPicPr>
          <p:cNvPr id="2" name="Picture 1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6BA282BE-5897-785E-5A83-CD51D70BA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761" y="1832128"/>
            <a:ext cx="4639849" cy="4300212"/>
          </a:xfrm>
          <a:prstGeom prst="rect">
            <a:avLst/>
          </a:prstGeom>
        </p:spPr>
      </p:pic>
      <p:pic>
        <p:nvPicPr>
          <p:cNvPr id="3" name="Picture 2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61FA6BA9-1176-4ACA-6ED5-9B5C01E8E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65" y="2623941"/>
            <a:ext cx="5849786" cy="234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72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B289-65F1-B5CA-9296-D112E3AF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658630-099E-E662-8965-428EEB22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99B28C-DD90-AB1D-0EBC-50B69083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8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CA9C65A-69ED-F1AF-A0C5-56A6F5F3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Results</a:t>
            </a:r>
            <a:r>
              <a:rPr lang="de-DE" sz="2400">
                <a:latin typeface="Verdana"/>
                <a:ea typeface="Verdana"/>
              </a:rPr>
              <a:t>: Basic ANN Architecture</a:t>
            </a:r>
            <a:endParaRPr lang="de-DE" sz="240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CBEA8C9C-2595-020C-89DD-DB18F395BA31}"/>
              </a:ext>
            </a:extLst>
          </p:cNvPr>
          <p:cNvSpPr>
            <a:spLocks noGrp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8FDFF022-34BA-D373-5805-8CBC11447EE9}"/>
              </a:ext>
            </a:extLst>
          </p:cNvPr>
          <p:cNvSpPr>
            <a:spLocks noGrp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64D95B17-437A-71F8-2A9C-8466FDED1C60}"/>
              </a:ext>
            </a:extLst>
          </p:cNvPr>
          <p:cNvSpPr txBox="1">
            <a:spLocks/>
          </p:cNvSpPr>
          <p:nvPr/>
        </p:nvSpPr>
        <p:spPr>
          <a:xfrm>
            <a:off x="-2253" y="1007693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2 hidden layers: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128 → 64 neurons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ReLU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activations + Dropout(0.3)</a:t>
            </a:r>
            <a:endParaRPr lang="en-US" sz="1600"/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Softmax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output layer</a:t>
            </a:r>
            <a:endParaRPr lang="en-US" sz="1600"/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Trained with Adam + 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EarlyStopping</a:t>
            </a:r>
            <a:endParaRPr lang="en-US" err="1"/>
          </a:p>
          <a:p>
            <a:pPr marL="457200" lvl="1" indent="0">
              <a:buNone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2"/>
            <a:endParaRPr lang="en-US" sz="14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34F0BC34-424A-2CD7-ABA4-2E025BBCD8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6" b="4755"/>
          <a:stretch>
            <a:fillRect/>
          </a:stretch>
        </p:blipFill>
        <p:spPr>
          <a:xfrm>
            <a:off x="5076143" y="2443162"/>
            <a:ext cx="6872937" cy="257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75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15C40-28A9-52F1-17B1-CC829A0A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A02CD07-20A9-A0AA-628A-AC369BA0A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6096F8-1D2D-65B0-BB2D-AED00F39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1F0BCD-105D-A082-5294-60606A23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9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2A1F21-3018-2F9C-B1DA-1609413B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Results</a:t>
            </a:r>
            <a:r>
              <a:rPr lang="de-DE" sz="2400">
                <a:latin typeface="Verdana"/>
                <a:ea typeface="Verdana"/>
              </a:rPr>
              <a:t>: </a:t>
            </a:r>
            <a:r>
              <a:rPr lang="de-DE" sz="2400" err="1">
                <a:latin typeface="Verdana"/>
                <a:ea typeface="Verdana"/>
              </a:rPr>
              <a:t>Advanced</a:t>
            </a:r>
            <a:r>
              <a:rPr lang="de-DE" sz="2400">
                <a:latin typeface="Verdana"/>
                <a:ea typeface="Verdana"/>
              </a:rPr>
              <a:t> ANN Architecture </a:t>
            </a:r>
            <a:endParaRPr lang="de-DE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03A09DC-FF6D-1624-475B-605EAF245782}"/>
              </a:ext>
            </a:extLst>
          </p:cNvPr>
          <p:cNvSpPr txBox="1">
            <a:spLocks/>
          </p:cNvSpPr>
          <p:nvPr/>
        </p:nvSpPr>
        <p:spPr>
          <a:xfrm>
            <a:off x="-2253" y="920404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ANN Architecture: 5 hidden layers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with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512 → 256 → 128 → 64 → 32 neurons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, followed by a 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softmax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output layer.</a:t>
            </a: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Stacked dense layers with:</a:t>
            </a:r>
            <a:endParaRPr lang="en-US" sz="1600">
              <a:solidFill>
                <a:srgbClr val="002060"/>
              </a:solidFill>
            </a:endParaRPr>
          </a:p>
          <a:p>
            <a:pPr lvl="2"/>
            <a:r>
              <a:rPr lang="en-US" sz="1400" b="1" err="1">
                <a:solidFill>
                  <a:srgbClr val="002060"/>
                </a:solidFill>
                <a:latin typeface="Verdana"/>
                <a:ea typeface="Verdana"/>
              </a:rPr>
              <a:t>ReLU</a:t>
            </a:r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 activation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prevents vanishing gradients, fast and stable training.</a:t>
            </a:r>
            <a:endParaRPr lang="en-US" sz="1400">
              <a:solidFill>
                <a:srgbClr val="002060"/>
              </a:solidFill>
            </a:endParaRPr>
          </a:p>
          <a:p>
            <a:pPr lvl="2"/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Batch Normalization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stabilizes distributions across layers, speeds convergence.</a:t>
            </a:r>
            <a:endParaRPr lang="en-US" sz="1400">
              <a:solidFill>
                <a:srgbClr val="002060"/>
              </a:solidFill>
            </a:endParaRPr>
          </a:p>
          <a:p>
            <a:pPr lvl="2"/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Dropout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reduces co-adaptation, improves generalization.</a:t>
            </a:r>
            <a:endParaRPr lang="en-US" sz="1400">
              <a:solidFill>
                <a:srgbClr val="002060"/>
              </a:solidFill>
            </a:endParaRPr>
          </a:p>
          <a:p>
            <a:pPr lvl="2"/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L2 weight regularization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penalizes overly large weights, controls model complexity.</a:t>
            </a:r>
            <a:endParaRPr lang="en-US">
              <a:solidFill>
                <a:srgbClr val="002060"/>
              </a:solidFill>
            </a:endParaRPr>
          </a:p>
          <a:p>
            <a:pPr lvl="2"/>
            <a:endParaRPr lang="en-US" sz="14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B3C2C71-39BA-FD7C-1AC1-49D8B542E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406" y="3556467"/>
            <a:ext cx="6223186" cy="261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92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60F7-FEBE-DFFA-A311-173AD456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56165C-D427-FE1A-D53D-00814D52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A6CEBE-9E0C-A7C7-C568-E5160162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10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2EF81359-CFB3-53C5-05DC-D9BD0C36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 err="1">
                <a:latin typeface="Verdana"/>
                <a:ea typeface="Verdana"/>
              </a:rPr>
              <a:t>Results</a:t>
            </a:r>
            <a:r>
              <a:rPr lang="de-DE" sz="2400">
                <a:latin typeface="Verdana"/>
                <a:ea typeface="Verdana"/>
              </a:rPr>
              <a:t>: Validation</a:t>
            </a:r>
            <a:endParaRPr lang="de-DE" sz="24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2CF1F9-CF90-1003-E776-9104495096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232902" cy="5466838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1600" b="1">
                <a:latin typeface="Verdana"/>
                <a:ea typeface="Verdana"/>
              </a:rPr>
              <a:t>Validation Approach</a:t>
            </a:r>
            <a:endParaRPr lang="en-US" sz="1600">
              <a:latin typeface="Verdana"/>
              <a:ea typeface="Verdana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Model inference evaluated on </a:t>
            </a:r>
            <a:r>
              <a:rPr lang="en-US" sz="1600" b="1">
                <a:latin typeface="Verdana"/>
                <a:ea typeface="Verdana"/>
              </a:rPr>
              <a:t>held-out test dataset</a:t>
            </a:r>
            <a:endParaRPr lang="en-US" sz="1600"/>
          </a:p>
          <a:p>
            <a:r>
              <a:rPr lang="en-US" sz="1600">
                <a:latin typeface="Verdana"/>
                <a:ea typeface="Verdana"/>
              </a:rPr>
              <a:t>Predictions compared with actual machine failure labels to verify performance</a:t>
            </a:r>
            <a:endParaRPr lang="en-US" sz="1600"/>
          </a:p>
          <a:p>
            <a:endParaRPr lang="en-US" sz="1600">
              <a:latin typeface="Verdana"/>
              <a:ea typeface="Verdana"/>
            </a:endParaRPr>
          </a:p>
          <a:p>
            <a:pPr marL="0" indent="0">
              <a:buNone/>
            </a:pPr>
            <a:r>
              <a:rPr lang="en-US" sz="1600" b="1">
                <a:latin typeface="Verdana"/>
                <a:ea typeface="Verdana"/>
              </a:rPr>
              <a:t>Why Validation is Reliable</a:t>
            </a:r>
            <a:endParaRPr lang="en-US" sz="1600"/>
          </a:p>
          <a:p>
            <a:r>
              <a:rPr lang="en-US" sz="1600">
                <a:latin typeface="Verdana"/>
                <a:ea typeface="Verdana"/>
              </a:rPr>
              <a:t>Test data </a:t>
            </a:r>
            <a:r>
              <a:rPr lang="en-US" sz="1600" b="1">
                <a:latin typeface="Verdana"/>
                <a:ea typeface="Verdana"/>
              </a:rPr>
              <a:t>not seen during training</a:t>
            </a:r>
            <a:r>
              <a:rPr lang="en-US" sz="1600">
                <a:latin typeface="Verdana"/>
                <a:ea typeface="Verdana"/>
              </a:rPr>
              <a:t>, ensuring unbiased assessment</a:t>
            </a:r>
            <a:endParaRPr lang="en-US" sz="1600"/>
          </a:p>
          <a:p>
            <a:r>
              <a:rPr lang="en-US" sz="1600">
                <a:latin typeface="Verdana"/>
                <a:ea typeface="Verdana"/>
              </a:rPr>
              <a:t>Performance metrics (accuracy, recall) demonstrate the model </a:t>
            </a:r>
            <a:r>
              <a:rPr lang="en-US" sz="1600" b="1">
                <a:latin typeface="Verdana"/>
                <a:ea typeface="Verdana"/>
              </a:rPr>
              <a:t>effectively detects failures</a:t>
            </a:r>
            <a:endParaRPr lang="en-US" sz="1600"/>
          </a:p>
          <a:p>
            <a:pPr>
              <a:buFont typeface="Arial"/>
              <a:buChar char="•"/>
            </a:pPr>
            <a:endParaRPr lang="en-US" sz="1400"/>
          </a:p>
        </p:txBody>
      </p:sp>
      <p:pic>
        <p:nvPicPr>
          <p:cNvPr id="3" name="Picture 2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4DAF9AFD-C291-CCC0-9454-5A710B55F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631" y="3431627"/>
            <a:ext cx="3188905" cy="266962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D8D15E-783F-94F6-4A3D-EB3DAFF21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403" y="3579248"/>
            <a:ext cx="534352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16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35A4-1E5E-43DE-D6F7-655B7235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C1BCA4-5409-DEFC-F1F9-7B74F119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131FF6-8302-3AC0-ED1A-10CCCCCE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11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1B8AB86E-AE63-2595-0AE2-526245E9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 err="1">
                <a:latin typeface="Verdana"/>
                <a:ea typeface="Verdana"/>
              </a:rPr>
              <a:t>Results</a:t>
            </a:r>
            <a:r>
              <a:rPr lang="de-DE" sz="2400">
                <a:latin typeface="Verdana"/>
                <a:ea typeface="Verdana"/>
              </a:rPr>
              <a:t>: Validation</a:t>
            </a:r>
            <a:endParaRPr lang="de-DE" sz="24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07D805E-87E6-4EE1-7B16-E0B617BF49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232902" cy="5466838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endParaRPr lang="en-US" sz="1400"/>
          </a:p>
          <a:p>
            <a:pPr>
              <a:buFont typeface="Arial"/>
              <a:buChar char="•"/>
            </a:pPr>
            <a:endParaRPr lang="en-US" sz="160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6DE004-D51A-3862-55F3-85BF7310F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2" y="1947845"/>
            <a:ext cx="11745311" cy="296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79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B0CB-299E-E664-7DEE-1BB47EE8C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525496F-98C6-3BBA-049C-F265DABDC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9A1546-E822-7CDA-6155-9A5B9799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B6B784-8FA5-C063-D739-FA04BDB9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12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C36C367-E107-356F-4AFE-24584338C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7" y="354984"/>
            <a:ext cx="9317213" cy="720000"/>
          </a:xfrm>
        </p:spPr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Discussion</a:t>
            </a:r>
            <a:r>
              <a:rPr lang="de-DE" sz="2400">
                <a:latin typeface="Verdana"/>
                <a:ea typeface="Verdana"/>
              </a:rPr>
              <a:t> and Analysis </a:t>
            </a:r>
            <a:r>
              <a:rPr lang="de-DE" sz="2400" err="1">
                <a:latin typeface="Verdana"/>
                <a:ea typeface="Verdana"/>
              </a:rPr>
              <a:t>of</a:t>
            </a:r>
            <a:r>
              <a:rPr lang="de-DE" sz="2400">
                <a:latin typeface="Verdana"/>
                <a:ea typeface="Verdana"/>
              </a:rPr>
              <a:t> </a:t>
            </a:r>
            <a:r>
              <a:rPr lang="de-DE" sz="2400" err="1">
                <a:latin typeface="Verdana"/>
                <a:ea typeface="Verdana"/>
              </a:rPr>
              <a:t>Results</a:t>
            </a:r>
            <a:endParaRPr lang="de-DE" sz="2400" b="0" err="1">
              <a:solidFill>
                <a:srgbClr val="000000"/>
              </a:solidFill>
              <a:latin typeface="Verdana"/>
              <a:ea typeface="Verdana"/>
            </a:endParaRPr>
          </a:p>
          <a:p>
            <a:endParaRPr lang="de-DE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8A0B98A-8EEB-1296-7BD0-57138A999879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1800" b="1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Precision: Avoiding False Alarms</a:t>
            </a:r>
            <a:endParaRPr lang="en-US" sz="1800">
              <a:solidFill>
                <a:srgbClr val="000000"/>
              </a:solidFill>
              <a:latin typeface="Verdana"/>
              <a:ea typeface="Verdana"/>
              <a:cs typeface="Arial"/>
            </a:endParaRPr>
          </a:p>
          <a:p>
            <a:pPr marL="457200" lvl="1" indent="0">
              <a:buNone/>
            </a:pPr>
            <a:endParaRPr lang="en-US" sz="1800" b="1">
              <a:solidFill>
                <a:srgbClr val="002060"/>
              </a:solidFill>
              <a:latin typeface="Arial"/>
              <a:cs typeface="Arial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r>
              <a:rPr lang="en-US" sz="1400" b="1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Definition: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 Out of all predictions where we say "failure will occur", how many are actually correct?</a:t>
            </a:r>
            <a:endParaRPr lang="en-US">
              <a:latin typeface="Verdana"/>
              <a:ea typeface="Verdana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r>
              <a:rPr lang="en-US" sz="1400" b="1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In Our Context: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 Precision measures unnecessary maintenance interventions. A high precision prevents wasting money on false alarms. </a:t>
            </a:r>
            <a:endParaRPr lang="en-US">
              <a:solidFill>
                <a:srgbClr val="000000"/>
              </a:solidFill>
              <a:latin typeface="Verdana"/>
              <a:ea typeface="Verdana"/>
              <a:cs typeface="Arial"/>
            </a:endParaRPr>
          </a:p>
          <a:p>
            <a:pPr marL="457200" lvl="1" indent="0">
              <a:buNone/>
            </a:pPr>
            <a:endParaRPr lang="en-US" sz="1800" b="1">
              <a:solidFill>
                <a:srgbClr val="002060"/>
              </a:solidFill>
              <a:latin typeface="Arial"/>
              <a:cs typeface="Arial"/>
            </a:endParaRPr>
          </a:p>
          <a:p>
            <a:pPr marL="457200" lvl="1" indent="0">
              <a:buNone/>
            </a:pPr>
            <a:r>
              <a:rPr lang="en-US" sz="1800" b="1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Recall: Catching All Failures</a:t>
            </a:r>
            <a:endParaRPr lang="en-US" sz="1800" b="1">
              <a:solidFill>
                <a:srgbClr val="000000"/>
              </a:solidFill>
              <a:latin typeface="Verdana"/>
              <a:ea typeface="Verdana"/>
              <a:cs typeface="Arial"/>
            </a:endParaRPr>
          </a:p>
          <a:p>
            <a:pPr marL="457200" lvl="1" indent="0">
              <a:buNone/>
            </a:pPr>
            <a:endParaRPr lang="en-US" sz="1800" b="1">
              <a:solidFill>
                <a:srgbClr val="002060"/>
              </a:solidFill>
              <a:cs typeface="Arial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r>
              <a:rPr lang="en-US" sz="1400" b="1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Definition: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 Out of all actual failures, how many do we successfully predict?</a:t>
            </a:r>
            <a:endParaRPr lang="en-US" sz="1400" b="1">
              <a:solidFill>
                <a:srgbClr val="002060"/>
              </a:solidFill>
              <a:latin typeface="Verdana"/>
              <a:ea typeface="Verdana"/>
              <a:cs typeface="Arial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r>
              <a:rPr lang="en-US" sz="1400" b="1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In Our Context: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 Recall is critical for </a:t>
            </a:r>
            <a:r>
              <a:rPr lang="en-US" sz="1400" err="1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PdM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  <a:cs typeface="Arial"/>
              </a:rPr>
              <a:t>, a single missed failure causes unplanned downtime, wasting materials, and safety risks. Missing 3% of failures is far better than missing 12%.</a:t>
            </a:r>
            <a:endParaRPr lang="en-US">
              <a:latin typeface="Verdana"/>
              <a:ea typeface="Verdana"/>
            </a:endParaRPr>
          </a:p>
          <a:p>
            <a:pPr marL="742950" lvl="1" indent="-285750">
              <a:buFont typeface="Wingdings" panose="020B0604020202020204" pitchFamily="34" charset="0"/>
              <a:buChar char="Ø"/>
            </a:pPr>
            <a:endParaRPr lang="en-US" sz="1400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cs typeface="Arial"/>
            </a:endParaRP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cs typeface="Arial"/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  <a:cs typeface="Arial"/>
            </a:endParaRPr>
          </a:p>
          <a:p>
            <a:pPr lvl="2"/>
            <a:endParaRPr lang="en-US">
              <a:solidFill>
                <a:srgbClr val="00206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333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1E32-6106-5BC7-5649-6BC9F89A5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BC3151-B1DC-7351-4754-10F1F5B1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AF51A1-1D77-12F5-06E4-51769103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13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BEF02EA-B3E6-4652-387B-92E4E4641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Discussion</a:t>
            </a:r>
            <a:r>
              <a:rPr lang="de-DE" sz="2400">
                <a:latin typeface="Verdana"/>
                <a:ea typeface="Verdana"/>
              </a:rPr>
              <a:t> and Analysis </a:t>
            </a:r>
            <a:r>
              <a:rPr lang="de-DE" sz="2400" err="1">
                <a:latin typeface="Verdana"/>
                <a:ea typeface="Verdana"/>
              </a:rPr>
              <a:t>of</a:t>
            </a:r>
            <a:r>
              <a:rPr lang="de-DE" sz="2400">
                <a:latin typeface="Verdana"/>
                <a:ea typeface="Verdana"/>
              </a:rPr>
              <a:t> Results</a:t>
            </a:r>
            <a:endParaRPr lang="de-DE" sz="2400" err="1"/>
          </a:p>
        </p:txBody>
      </p:sp>
      <p:sp>
        <p:nvSpPr>
          <p:cNvPr id="89" name="Text 0">
            <a:extLst>
              <a:ext uri="{FF2B5EF4-FFF2-40B4-BE49-F238E27FC236}">
                <a16:creationId xmlns:a16="http://schemas.microsoft.com/office/drawing/2014/main" id="{A469D214-1EE6-16C3-E240-F68627931B90}"/>
              </a:ext>
            </a:extLst>
          </p:cNvPr>
          <p:cNvSpPr/>
          <p:nvPr/>
        </p:nvSpPr>
        <p:spPr>
          <a:xfrm>
            <a:off x="786525" y="3556525"/>
            <a:ext cx="3386693" cy="1471136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txBody>
          <a:bodyPr wrap="none" lIns="0" tIns="0" rIns="0" bIns="0" rtlCol="0" anchor="ctr">
            <a:norm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91" name="Text 1">
            <a:extLst>
              <a:ext uri="{FF2B5EF4-FFF2-40B4-BE49-F238E27FC236}">
                <a16:creationId xmlns:a16="http://schemas.microsoft.com/office/drawing/2014/main" id="{91416D67-9F6E-6927-E9C5-EF586378064E}"/>
              </a:ext>
            </a:extLst>
          </p:cNvPr>
          <p:cNvSpPr/>
          <p:nvPr/>
        </p:nvSpPr>
        <p:spPr>
          <a:xfrm>
            <a:off x="4376418" y="3556525"/>
            <a:ext cx="3386693" cy="1471136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txBody>
          <a:bodyPr wrap="none" lIns="0" tIns="0" rIns="0" bIns="0" rtlCol="0" anchor="ctr">
            <a:norm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93" name="Text 2">
            <a:extLst>
              <a:ext uri="{FF2B5EF4-FFF2-40B4-BE49-F238E27FC236}">
                <a16:creationId xmlns:a16="http://schemas.microsoft.com/office/drawing/2014/main" id="{01AEDEE9-6310-3490-5F56-933719FE6B5C}"/>
              </a:ext>
            </a:extLst>
          </p:cNvPr>
          <p:cNvSpPr/>
          <p:nvPr/>
        </p:nvSpPr>
        <p:spPr>
          <a:xfrm>
            <a:off x="7966311" y="3556525"/>
            <a:ext cx="3386693" cy="1471136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txBody>
          <a:bodyPr wrap="none" lIns="0" tIns="0" rIns="0" bIns="0" rtlCol="0" anchor="ctr">
            <a:norm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graphicFrame>
        <p:nvGraphicFramePr>
          <p:cNvPr id="95" name="Table 0">
            <a:extLst>
              <a:ext uri="{FF2B5EF4-FFF2-40B4-BE49-F238E27FC236}">
                <a16:creationId xmlns:a16="http://schemas.microsoft.com/office/drawing/2014/main" id="{05631A3B-45BD-C600-089E-4C07CE377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376238"/>
              </p:ext>
            </p:extLst>
          </p:nvPr>
        </p:nvGraphicFramePr>
        <p:xfrm>
          <a:off x="786524" y="1163845"/>
          <a:ext cx="10566400" cy="2189484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3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Model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2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Precision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2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Recall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2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Improvement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2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284C7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Random Forest (Baseline)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2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/>
                          <a:ea typeface="Arial" charset="0"/>
                          <a:cs typeface="Arial"/>
                        </a:rPr>
                        <a:t>93.7%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2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/>
                          <a:ea typeface="Arial" charset="0"/>
                          <a:cs typeface="Arial"/>
                        </a:rPr>
                        <a:t>88.7%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2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6B728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—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2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284C7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Initial ANN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/>
                          <a:ea typeface="Arial" charset="0"/>
                          <a:cs typeface="Arial"/>
                        </a:rPr>
                        <a:t>90.0%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/>
                          <a:ea typeface="Arial" charset="0"/>
                          <a:cs typeface="Arial"/>
                        </a:rPr>
                        <a:t>90.0%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-3.7% / +1.3%</a:t>
                      </a:r>
                      <a:endParaRPr lang="en-US" sz="1500">
                        <a:latin typeface="Arial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284C7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Advanced ANN ⭐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Arial"/>
                          <a:ea typeface="Arial" charset="0"/>
                          <a:cs typeface="Arial"/>
                        </a:rPr>
                        <a:t>92.0%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97.0%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-1.7% / +8.3%</a:t>
                      </a:r>
                      <a:endParaRPr lang="en-US" sz="15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7" name="Text 4">
            <a:extLst>
              <a:ext uri="{FF2B5EF4-FFF2-40B4-BE49-F238E27FC236}">
                <a16:creationId xmlns:a16="http://schemas.microsoft.com/office/drawing/2014/main" id="{7189F9D2-1584-C736-0214-C7225135BB4E}"/>
              </a:ext>
            </a:extLst>
          </p:cNvPr>
          <p:cNvSpPr/>
          <p:nvPr/>
        </p:nvSpPr>
        <p:spPr>
          <a:xfrm>
            <a:off x="970285" y="3769885"/>
            <a:ext cx="30191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360"/>
              </a:lnSpc>
              <a:buNone/>
            </a:pPr>
            <a:r>
              <a:rPr lang="en-US" b="1">
                <a:solidFill>
                  <a:srgbClr val="0284C7"/>
                </a:solidFill>
                <a:latin typeface="Arial"/>
                <a:cs typeface="Arial"/>
              </a:rPr>
              <a:t>+8.3%</a:t>
            </a:r>
            <a:endParaRPr lang="en-US" sz="2400"/>
          </a:p>
        </p:txBody>
      </p:sp>
      <p:sp>
        <p:nvSpPr>
          <p:cNvPr id="99" name="Text 5">
            <a:extLst>
              <a:ext uri="{FF2B5EF4-FFF2-40B4-BE49-F238E27FC236}">
                <a16:creationId xmlns:a16="http://schemas.microsoft.com/office/drawing/2014/main" id="{784237FC-E7DD-28AD-3145-8B7DFFFCDDAE}"/>
              </a:ext>
            </a:extLst>
          </p:cNvPr>
          <p:cNvSpPr/>
          <p:nvPr/>
        </p:nvSpPr>
        <p:spPr>
          <a:xfrm>
            <a:off x="970285" y="4298205"/>
            <a:ext cx="3019172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904"/>
              </a:lnSpc>
              <a:buNone/>
            </a:pPr>
            <a:r>
              <a:rPr lang="en-US" sz="136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Gain</a:t>
            </a:r>
            <a:endParaRPr lang="en-US" sz="1360"/>
          </a:p>
        </p:txBody>
      </p:sp>
      <p:sp>
        <p:nvSpPr>
          <p:cNvPr id="101" name="Text 6">
            <a:extLst>
              <a:ext uri="{FF2B5EF4-FFF2-40B4-BE49-F238E27FC236}">
                <a16:creationId xmlns:a16="http://schemas.microsoft.com/office/drawing/2014/main" id="{0F65A109-7B5C-0494-D074-DFDCBB932BDA}"/>
              </a:ext>
            </a:extLst>
          </p:cNvPr>
          <p:cNvSpPr/>
          <p:nvPr/>
        </p:nvSpPr>
        <p:spPr>
          <a:xfrm>
            <a:off x="970285" y="4600942"/>
            <a:ext cx="301917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missed failures</a:t>
            </a:r>
            <a:endParaRPr lang="en-US" sz="1200"/>
          </a:p>
        </p:txBody>
      </p:sp>
      <p:sp>
        <p:nvSpPr>
          <p:cNvPr id="103" name="Text 7">
            <a:extLst>
              <a:ext uri="{FF2B5EF4-FFF2-40B4-BE49-F238E27FC236}">
                <a16:creationId xmlns:a16="http://schemas.microsoft.com/office/drawing/2014/main" id="{DA32F3FE-E0E5-66A5-1A5E-35AC5DE34207}"/>
              </a:ext>
            </a:extLst>
          </p:cNvPr>
          <p:cNvSpPr/>
          <p:nvPr/>
        </p:nvSpPr>
        <p:spPr>
          <a:xfrm>
            <a:off x="4560178" y="3769885"/>
            <a:ext cx="30191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360"/>
              </a:lnSpc>
              <a:buNone/>
            </a:pPr>
            <a:r>
              <a:rPr lang="en-US" b="1">
                <a:solidFill>
                  <a:srgbClr val="0284C7"/>
                </a:solidFill>
                <a:latin typeface="Arial"/>
                <a:cs typeface="Arial"/>
              </a:rPr>
              <a:t>-1.7%</a:t>
            </a:r>
            <a:endParaRPr lang="en-US" sz="2400"/>
          </a:p>
        </p:txBody>
      </p:sp>
      <p:sp>
        <p:nvSpPr>
          <p:cNvPr id="105" name="Text 8">
            <a:extLst>
              <a:ext uri="{FF2B5EF4-FFF2-40B4-BE49-F238E27FC236}">
                <a16:creationId xmlns:a16="http://schemas.microsoft.com/office/drawing/2014/main" id="{40ABD5C6-D933-9166-A92B-DBA0843ED7ED}"/>
              </a:ext>
            </a:extLst>
          </p:cNvPr>
          <p:cNvSpPr/>
          <p:nvPr/>
        </p:nvSpPr>
        <p:spPr>
          <a:xfrm>
            <a:off x="4560178" y="4298205"/>
            <a:ext cx="3019172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904"/>
              </a:lnSpc>
              <a:buNone/>
            </a:pPr>
            <a:r>
              <a:rPr lang="en-US" sz="136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Gain</a:t>
            </a:r>
            <a:endParaRPr lang="en-US" sz="1360"/>
          </a:p>
        </p:txBody>
      </p:sp>
      <p:sp>
        <p:nvSpPr>
          <p:cNvPr id="107" name="Text 9">
            <a:extLst>
              <a:ext uri="{FF2B5EF4-FFF2-40B4-BE49-F238E27FC236}">
                <a16:creationId xmlns:a16="http://schemas.microsoft.com/office/drawing/2014/main" id="{97569105-DC6B-FA80-04B7-0518C219FFD6}"/>
              </a:ext>
            </a:extLst>
          </p:cNvPr>
          <p:cNvSpPr/>
          <p:nvPr/>
        </p:nvSpPr>
        <p:spPr>
          <a:xfrm>
            <a:off x="4560178" y="4600942"/>
            <a:ext cx="301917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false alarms</a:t>
            </a:r>
            <a:endParaRPr lang="en-US" sz="1200"/>
          </a:p>
        </p:txBody>
      </p:sp>
      <p:sp>
        <p:nvSpPr>
          <p:cNvPr id="109" name="Text 10">
            <a:extLst>
              <a:ext uri="{FF2B5EF4-FFF2-40B4-BE49-F238E27FC236}">
                <a16:creationId xmlns:a16="http://schemas.microsoft.com/office/drawing/2014/main" id="{A6B48DA8-74BA-5843-C8B6-4D7F9A180C75}"/>
              </a:ext>
            </a:extLst>
          </p:cNvPr>
          <p:cNvSpPr/>
          <p:nvPr/>
        </p:nvSpPr>
        <p:spPr>
          <a:xfrm>
            <a:off x="8150073" y="3769885"/>
            <a:ext cx="301917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360"/>
              </a:lnSpc>
              <a:buNone/>
            </a:pPr>
            <a:r>
              <a:rPr lang="en-US" sz="2400" b="1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97.0%</a:t>
            </a:r>
            <a:endParaRPr lang="en-US" sz="240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97F68C73-F637-5680-6D48-AD185B59C57D}"/>
              </a:ext>
            </a:extLst>
          </p:cNvPr>
          <p:cNvSpPr/>
          <p:nvPr/>
        </p:nvSpPr>
        <p:spPr>
          <a:xfrm>
            <a:off x="8150073" y="4298205"/>
            <a:ext cx="3019172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904"/>
              </a:lnSpc>
              <a:buNone/>
            </a:pPr>
            <a:r>
              <a:rPr lang="en-US" sz="136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Recall</a:t>
            </a:r>
            <a:endParaRPr lang="en-US" sz="1360"/>
          </a:p>
        </p:txBody>
      </p:sp>
      <p:sp>
        <p:nvSpPr>
          <p:cNvPr id="113" name="Text 12">
            <a:extLst>
              <a:ext uri="{FF2B5EF4-FFF2-40B4-BE49-F238E27FC236}">
                <a16:creationId xmlns:a16="http://schemas.microsoft.com/office/drawing/2014/main" id="{3599BFF8-2628-4C4E-CDA4-1195EFB7FE84}"/>
              </a:ext>
            </a:extLst>
          </p:cNvPr>
          <p:cNvSpPr/>
          <p:nvPr/>
        </p:nvSpPr>
        <p:spPr>
          <a:xfrm>
            <a:off x="8150073" y="4600942"/>
            <a:ext cx="301917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3% missed</a:t>
            </a:r>
            <a:endParaRPr lang="en-US" sz="1200"/>
          </a:p>
        </p:txBody>
      </p:sp>
      <p:sp>
        <p:nvSpPr>
          <p:cNvPr id="115" name="Text 13">
            <a:extLst>
              <a:ext uri="{FF2B5EF4-FFF2-40B4-BE49-F238E27FC236}">
                <a16:creationId xmlns:a16="http://schemas.microsoft.com/office/drawing/2014/main" id="{20CFFC97-ADDA-6A1E-015A-88439DF6F9E3}"/>
              </a:ext>
            </a:extLst>
          </p:cNvPr>
          <p:cNvSpPr/>
          <p:nvPr/>
        </p:nvSpPr>
        <p:spPr>
          <a:xfrm>
            <a:off x="786524" y="5230862"/>
            <a:ext cx="10566400" cy="92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32"/>
              </a:lnSpc>
              <a:buNone/>
            </a:pPr>
            <a:r>
              <a:rPr lang="en-US" sz="1520" b="1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r>
              <a:rPr lang="en-US" sz="152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Advanced ANN achieved </a:t>
            </a:r>
            <a:r>
              <a:rPr lang="en-US" sz="152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97.0% recall</a:t>
            </a:r>
            <a:r>
              <a:rPr lang="en-US" sz="152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meaning we detect </a:t>
            </a:r>
            <a:r>
              <a:rPr lang="en-US" sz="152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out of 100 actual failures</a:t>
            </a:r>
            <a:r>
              <a:rPr lang="en-US" sz="152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With 5 hidden layers, Batch Normalization, and combined Dropout + L2 regularization, the model captures complex fault signatures that simpler models miss.</a:t>
            </a:r>
            <a:endParaRPr lang="en-US" sz="1520"/>
          </a:p>
        </p:txBody>
      </p:sp>
    </p:spTree>
    <p:extLst>
      <p:ext uri="{BB962C8B-B14F-4D97-AF65-F5344CB8AC3E}">
        <p14:creationId xmlns:p14="http://schemas.microsoft.com/office/powerpoint/2010/main" val="318191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3CED7-F215-46DC-76CD-4398754E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FE5004A-F5DD-73E8-3960-EE553AC25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B10B93-085A-1C1C-2418-7D26158E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60ED2C-508F-5F56-AC75-A7F1072E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14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F77232B-24D2-3558-93AD-99EDFDC66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Summary</a:t>
            </a:r>
            <a:endParaRPr lang="de-DE" sz="2400" err="1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ECF490FF-F8AF-37F0-97AB-943FF1207876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Implemented a data preprocessing and visualization pipeline to generate insights.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Trained and validated ANN-based predictive maintenance model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Inference pipeline implemented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(preprocessing + prediction)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Interactive 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Streamlit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app for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real-time failure prediction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from sensor inputs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Created a reference predictive maintenance framework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that can be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adapted to different milling machines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by mapping corresponding sensor inputs.</a:t>
            </a: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33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9F2B3-22A4-D61B-BB72-B8461CF8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9167FD-33AF-E986-B86F-969E8F1F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97573F-4EC0-0838-930D-026A32212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44561D-C5AB-EDBC-DA64-AB115BAB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15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B85BC49-DD4B-9505-C68C-D4CD9041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Future </a:t>
            </a:r>
            <a:r>
              <a:rPr lang="de-DE" sz="2400" err="1">
                <a:latin typeface="Verdana"/>
                <a:ea typeface="Verdana"/>
              </a:rPr>
              <a:t>Scope</a:t>
            </a:r>
            <a:endParaRPr lang="de-DE" sz="2400" err="1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6182FCC-3733-E0F1-722F-1C9A6761E098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Add accelerometer to capture tool vibration signatures → detect mechanical degradation earlier, enabling recall improvement and production downtime prevention.</a:t>
            </a:r>
            <a:endParaRPr lang="en-US"/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Deploy drift detection system to monitor model accuracy in production → trigger automatic retraining when recall drops below a certain threshold.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Use the pre-trained Advanced ANN architecture as foundation for different machines → fine-tune only final output layers on new machine data 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810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0A82-A79B-2724-E7B3-DE946BA55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A21C4FA-5378-89E4-25AF-B4C4C0C05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9029E9-15F9-8BFD-EB38-AA974598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18.01.2026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D0D401-E139-7EE3-68A1-F72399CB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16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89A13DC-6637-73C2-EF33-CA209C453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References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E36EF-5ED2-81E7-FCE2-5E90A718FB65}"/>
              </a:ext>
            </a:extLst>
          </p:cNvPr>
          <p:cNvSpPr txBox="1"/>
          <p:nvPr/>
        </p:nvSpPr>
        <p:spPr>
          <a:xfrm>
            <a:off x="657616" y="1717110"/>
            <a:ext cx="10521862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000" b="1" kern="1200">
                <a:solidFill>
                  <a:srgbClr val="002060"/>
                </a:solidFill>
                <a:latin typeface="Verdana"/>
                <a:ea typeface="Verdana"/>
                <a:cs typeface="+mn-cs"/>
              </a:rPr>
              <a:t>[1] Carvalho et al., 2019 Systematic Review of ML in </a:t>
            </a:r>
            <a:r>
              <a:rPr lang="en-US" sz="2000" b="1" kern="1200" err="1">
                <a:solidFill>
                  <a:srgbClr val="002060"/>
                </a:solidFill>
                <a:latin typeface="Verdana"/>
                <a:ea typeface="Verdana"/>
                <a:cs typeface="+mn-cs"/>
              </a:rPr>
              <a:t>PdM</a:t>
            </a:r>
            <a:endParaRPr lang="en-US" sz="2000" b="1" kern="1200">
              <a:solidFill>
                <a:srgbClr val="002060"/>
              </a:solidFill>
              <a:latin typeface="Verdana"/>
              <a:ea typeface="Verdana"/>
            </a:endParaRPr>
          </a:p>
          <a:p>
            <a:endParaRPr lang="en-US" sz="2000" b="1">
              <a:solidFill>
                <a:srgbClr val="002060"/>
              </a:solidFill>
              <a:latin typeface="Verdana"/>
              <a:ea typeface="Verdana"/>
            </a:endParaRPr>
          </a:p>
          <a:p>
            <a:r>
              <a:rPr lang="en-US" sz="2000" b="1">
                <a:solidFill>
                  <a:srgbClr val="002060"/>
                </a:solidFill>
                <a:latin typeface="Verdana"/>
                <a:ea typeface="Verdana"/>
                <a:cs typeface="Calibri" panose="020F0502020204030204"/>
              </a:rPr>
              <a:t>[2] </a:t>
            </a:r>
            <a:r>
              <a:rPr lang="en-US" sz="2000" b="1" err="1">
                <a:solidFill>
                  <a:srgbClr val="002060"/>
                </a:solidFill>
                <a:latin typeface="Verdana"/>
                <a:ea typeface="Verdana"/>
                <a:cs typeface="Calibri" panose="020F0502020204030204"/>
              </a:rPr>
              <a:t>Matzka</a:t>
            </a:r>
            <a:r>
              <a:rPr lang="en-US" sz="2000" b="1">
                <a:solidFill>
                  <a:srgbClr val="002060"/>
                </a:solidFill>
                <a:latin typeface="Verdana"/>
                <a:ea typeface="Verdana"/>
                <a:cs typeface="Calibri" panose="020F0502020204030204"/>
              </a:rPr>
              <a:t>, 2020  Explainable AI for </a:t>
            </a:r>
            <a:r>
              <a:rPr lang="en-US" sz="2000" b="1" err="1">
                <a:solidFill>
                  <a:srgbClr val="002060"/>
                </a:solidFill>
                <a:latin typeface="Verdana"/>
                <a:ea typeface="Verdana"/>
                <a:cs typeface="Calibri" panose="020F0502020204030204"/>
              </a:rPr>
              <a:t>PdM</a:t>
            </a:r>
            <a:endParaRPr lang="en-US" sz="2000">
              <a:ea typeface="Calibri"/>
              <a:cs typeface="Calibri"/>
            </a:endParaRPr>
          </a:p>
          <a:p>
            <a:endParaRPr lang="en-US" sz="2000" b="1">
              <a:solidFill>
                <a:srgbClr val="002060"/>
              </a:solidFill>
              <a:latin typeface="Verdana"/>
              <a:ea typeface="Verdana"/>
              <a:cs typeface="Calibri" panose="020F0502020204030204"/>
            </a:endParaRPr>
          </a:p>
          <a:p>
            <a:endParaRPr lang="en-US" sz="2000" b="1">
              <a:solidFill>
                <a:srgbClr val="002060"/>
              </a:solidFill>
              <a:latin typeface="Verdana"/>
              <a:ea typeface="Verdana"/>
              <a:cs typeface="Calibri" panose="020F0502020204030204"/>
            </a:endParaRPr>
          </a:p>
          <a:p>
            <a:r>
              <a:rPr lang="en-US" sz="2000" b="1">
                <a:solidFill>
                  <a:srgbClr val="002060"/>
                </a:solidFill>
                <a:latin typeface="Verdana"/>
                <a:ea typeface="Verdana"/>
                <a:cs typeface="Calibri" panose="020F0502020204030204"/>
              </a:rPr>
              <a:t>[3] Sujata Butte, Prashanth A. R., and Sainath Patil, 2018 — Machine learning based predictive maintenance strategy: a super learning approach with deep neural networks. IEEE, 2018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 algn="ctr"/>
            <a:endParaRPr lang="en-US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4766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DP-B-5_Präsentationsvorlage" id="{128D2E0A-A394-411D-BD24-FC1AB16537CF}" vid="{41852122-8DFA-43C1-9355-1D6B5715634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MDP-B-5_Präsentationsvorlage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</vt:lpstr>
      <vt:lpstr>PowerPoint Presentation</vt:lpstr>
      <vt:lpstr>Project Overview</vt:lpstr>
      <vt:lpstr>DMU 50</vt:lpstr>
      <vt:lpstr>Data Understanding</vt:lpstr>
      <vt:lpstr>Data Exploration</vt:lpstr>
      <vt:lpstr>Methodology flowchart</vt:lpstr>
      <vt:lpstr>Results: Random Forest</vt:lpstr>
      <vt:lpstr>Results: Basic ANN Architecture</vt:lpstr>
      <vt:lpstr>Results: Advanced ANN Architecture </vt:lpstr>
      <vt:lpstr>Results: Validation</vt:lpstr>
      <vt:lpstr>Results: Validation</vt:lpstr>
      <vt:lpstr>Discussion and Analysis of Results </vt:lpstr>
      <vt:lpstr>Discussion and Analysis of Results</vt:lpstr>
      <vt:lpstr>Summary</vt:lpstr>
      <vt:lpstr>Future Scope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Robotik</dc:title>
  <dc:creator>Johannes Vogl</dc:creator>
  <cp:revision>9</cp:revision>
  <dcterms:created xsi:type="dcterms:W3CDTF">2024-01-07T18:27:34Z</dcterms:created>
  <dcterms:modified xsi:type="dcterms:W3CDTF">2026-01-18T14:20:37Z</dcterms:modified>
</cp:coreProperties>
</file>